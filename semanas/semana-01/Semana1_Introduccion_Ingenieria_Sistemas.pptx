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image" Target="../media/image-10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image" Target="../media/image-1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flipV="1">
            <a:off x="9464040" y="1188720"/>
            <a:ext cx="1828800" cy="411480"/>
          </a:xfrm>
          <a:prstGeom prst="line">
            <a:avLst/>
          </a:prstGeom>
          <a:noFill/>
          <a:ln w="15875">
            <a:solidFill>
              <a:srgbClr val="22304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235440" y="1600200"/>
            <a:ext cx="228600" cy="1463040"/>
          </a:xfrm>
          <a:prstGeom prst="line">
            <a:avLst/>
          </a:prstGeom>
          <a:noFill/>
          <a:ln w="15875">
            <a:solidFill>
              <a:srgbClr val="223049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201400" y="1188720"/>
            <a:ext cx="91440" cy="1783080"/>
          </a:xfrm>
          <a:prstGeom prst="line">
            <a:avLst/>
          </a:prstGeom>
          <a:noFill/>
          <a:ln w="15875">
            <a:solidFill>
              <a:srgbClr val="223049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 flipV="1">
            <a:off x="9235440" y="2971800"/>
            <a:ext cx="1965960" cy="91440"/>
          </a:xfrm>
          <a:prstGeom prst="line">
            <a:avLst/>
          </a:prstGeom>
          <a:noFill/>
          <a:ln w="15875">
            <a:solidFill>
              <a:srgbClr val="223049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235440" y="3063240"/>
            <a:ext cx="868680" cy="1463040"/>
          </a:xfrm>
          <a:prstGeom prst="line">
            <a:avLst/>
          </a:prstGeom>
          <a:noFill/>
          <a:ln w="15875">
            <a:solidFill>
              <a:srgbClr val="223049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1201400" y="2971800"/>
            <a:ext cx="320040" cy="1783080"/>
          </a:xfrm>
          <a:prstGeom prst="line">
            <a:avLst/>
          </a:prstGeom>
          <a:noFill/>
          <a:ln w="15875">
            <a:solidFill>
              <a:srgbClr val="223049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418320" y="4526280"/>
            <a:ext cx="685800" cy="1325880"/>
          </a:xfrm>
          <a:prstGeom prst="line">
            <a:avLst/>
          </a:prstGeom>
          <a:noFill/>
          <a:ln w="15875">
            <a:solidFill>
              <a:srgbClr val="223049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0104120" y="4526280"/>
            <a:ext cx="1417320" cy="228600"/>
          </a:xfrm>
          <a:prstGeom prst="line">
            <a:avLst/>
          </a:prstGeom>
          <a:noFill/>
          <a:ln w="15875">
            <a:solidFill>
              <a:srgbClr val="223049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778240" y="1280160"/>
            <a:ext cx="1371600" cy="640080"/>
          </a:xfrm>
          <a:prstGeom prst="rect">
            <a:avLst>
              <a:gd name="adj" fmla="val 8571"/>
            </a:avLst>
          </a:prstGeom>
          <a:solidFill>
            <a:srgbClr val="121821"/>
          </a:solidFill>
          <a:ln w="15875">
            <a:solidFill>
              <a:srgbClr val="1A4F8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0698480" y="914400"/>
            <a:ext cx="1188720" cy="548640"/>
          </a:xfrm>
          <a:prstGeom prst="rect">
            <a:avLst>
              <a:gd name="adj" fmla="val 10000"/>
            </a:avLst>
          </a:prstGeom>
          <a:solidFill>
            <a:srgbClr val="121821"/>
          </a:solidFill>
          <a:ln w="15875">
            <a:solidFill>
              <a:srgbClr val="2A364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503920" y="2743200"/>
            <a:ext cx="1463040" cy="640080"/>
          </a:xfrm>
          <a:prstGeom prst="rect">
            <a:avLst>
              <a:gd name="adj" fmla="val 8571"/>
            </a:avLst>
          </a:prstGeom>
          <a:solidFill>
            <a:srgbClr val="121821"/>
          </a:solidFill>
          <a:ln w="15875">
            <a:solidFill>
              <a:srgbClr val="2A3646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0607040" y="2651760"/>
            <a:ext cx="1188720" cy="640080"/>
          </a:xfrm>
          <a:prstGeom prst="rect">
            <a:avLst>
              <a:gd name="adj" fmla="val 8571"/>
            </a:avLst>
          </a:prstGeom>
          <a:solidFill>
            <a:srgbClr val="121821"/>
          </a:solidFill>
          <a:ln w="15875">
            <a:solidFill>
              <a:srgbClr val="1A4F8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9418320" y="4206240"/>
            <a:ext cx="1371600" cy="640080"/>
          </a:xfrm>
          <a:prstGeom prst="rect">
            <a:avLst>
              <a:gd name="adj" fmla="val 8571"/>
            </a:avLst>
          </a:prstGeom>
          <a:solidFill>
            <a:srgbClr val="121821"/>
          </a:solidFill>
          <a:ln w="15875">
            <a:solidFill>
              <a:srgbClr val="2A364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1064240" y="4480560"/>
            <a:ext cx="914400" cy="548640"/>
          </a:xfrm>
          <a:prstGeom prst="rect">
            <a:avLst>
              <a:gd name="adj" fmla="val 10000"/>
            </a:avLst>
          </a:prstGeom>
          <a:solidFill>
            <a:srgbClr val="121821"/>
          </a:solidFill>
          <a:ln w="15875">
            <a:solidFill>
              <a:srgbClr val="2A3646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778240" y="5577840"/>
            <a:ext cx="1280160" cy="548640"/>
          </a:xfrm>
          <a:prstGeom prst="rect">
            <a:avLst>
              <a:gd name="adj" fmla="val 10000"/>
            </a:avLst>
          </a:prstGeom>
          <a:solidFill>
            <a:srgbClr val="121821"/>
          </a:solidFill>
          <a:ln w="15875">
            <a:solidFill>
              <a:srgbClr val="1A4F8A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40080" y="15544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838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INTRODUCCIÓN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640080" y="1874520"/>
            <a:ext cx="78638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6F4E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Ingeniería de Sistemas</a:t>
            </a:r>
            <a:endParaRPr lang="en-US" sz="4400" dirty="0"/>
          </a:p>
        </p:txBody>
      </p:sp>
      <p:sp>
        <p:nvSpPr>
          <p:cNvPr id="19" name="Text 17"/>
          <p:cNvSpPr txBox="1"/>
          <p:nvPr/>
        </p:nvSpPr>
        <p:spPr>
          <a:xfrm>
            <a:off x="640080" y="306324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7CC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Qué es, por qué importa, y cómo la vamos a practicar en este curso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640080" y="4160520"/>
            <a:ext cx="6400800" cy="1143000"/>
          </a:xfrm>
          <a:prstGeom prst="roundRect">
            <a:avLst>
              <a:gd name="adj" fmla="val 4800"/>
            </a:avLst>
          </a:prstGeom>
          <a:ln w="12700">
            <a:solidFill>
              <a:srgbClr val="2A3646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960120" y="4343400"/>
            <a:ext cx="5760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B88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SOBRE ESTAS TRANSPARENCIAS</a:t>
            </a:r>
            <a:endParaRPr lang="en-US" sz="1000" dirty="0"/>
          </a:p>
        </p:txBody>
      </p:sp>
      <p:sp>
        <p:nvSpPr>
          <p:cNvPr id="22" name="Text 20"/>
          <p:cNvSpPr txBox="1"/>
          <p:nvPr/>
        </p:nvSpPr>
        <p:spPr>
          <a:xfrm>
            <a:off x="960120" y="4645152"/>
            <a:ext cx="5760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9199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Contenido generado con asistencia de IA (Claude) a partir de instrucciones del profesor, quien ha revisado y editado el resultado final.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640080" y="5806440"/>
            <a:ext cx="6035040" cy="18288"/>
          </a:xfrm>
          <a:prstGeom prst="rect">
            <a:avLst/>
          </a:prstGeom>
          <a:solidFill>
            <a:srgbClr val="2A3646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640080" y="5943600"/>
            <a:ext cx="6035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6F4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Ingeniería Robótica con MBSE</a:t>
            </a:r>
            <a:endParaRPr lang="en-US" sz="1300" dirty="0"/>
          </a:p>
        </p:txBody>
      </p:sp>
      <p:sp>
        <p:nvSpPr>
          <p:cNvPr id="25" name="Text 23"/>
          <p:cNvSpPr txBox="1"/>
          <p:nvPr/>
        </p:nvSpPr>
        <p:spPr>
          <a:xfrm>
            <a:off x="640080" y="6263640"/>
            <a:ext cx="6035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9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4º Grado Ingeniería Electrónica y Automática · Semana 1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6F4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029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838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ANTES DE EMPEZAR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868680"/>
            <a:ext cx="10789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D11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Buenas prácticas: usar la IA en este curso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50876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D44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Estas transparencias se hicieron con IA, siguiendo estas mismas reglas. Se aplican a todo lo que entregues en el curso.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704088" y="2208276"/>
            <a:ext cx="512064" cy="512064"/>
          </a:xfrm>
          <a:prstGeom prst="ellipse">
            <a:avLst/>
          </a:prstGeom>
          <a:solidFill>
            <a:srgbClr val="EDE9E0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0898" y="2285086"/>
            <a:ext cx="358445" cy="358445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371600" y="2148840"/>
            <a:ext cx="233172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Responsabilidad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3794760" y="2148840"/>
            <a:ext cx="768096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D44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IA propone, tú respondes. Firmas cada entrega como si la hubieras escrito a mano.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704088" y="2985516"/>
            <a:ext cx="512064" cy="512064"/>
          </a:xfrm>
          <a:prstGeom prst="ellipse">
            <a:avLst/>
          </a:prstGeom>
          <a:solidFill>
            <a:srgbClr val="EDE9E0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0898" y="3062326"/>
            <a:ext cx="358445" cy="358445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1371600" y="2926080"/>
            <a:ext cx="233172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Verificación</a:t>
            </a:r>
            <a:endParaRPr lang="en-US" sz="1400" dirty="0"/>
          </a:p>
        </p:txBody>
      </p:sp>
      <p:sp>
        <p:nvSpPr>
          <p:cNvPr id="12" name="Text 8"/>
          <p:cNvSpPr txBox="1"/>
          <p:nvPr/>
        </p:nvSpPr>
        <p:spPr>
          <a:xfrm>
            <a:off x="3794760" y="2926080"/>
            <a:ext cx="768096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D44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Ningún valor entra en el modelo sin que tú lo compruebes — la trazabilidad no distingue origen humano o IA.</a:t>
            </a:r>
            <a:endParaRPr lang="en-US" sz="1250" dirty="0"/>
          </a:p>
        </p:txBody>
      </p:sp>
      <p:sp>
        <p:nvSpPr>
          <p:cNvPr id="13" name="Shape 9"/>
          <p:cNvSpPr/>
          <p:nvPr/>
        </p:nvSpPr>
        <p:spPr>
          <a:xfrm>
            <a:off x="704088" y="3762756"/>
            <a:ext cx="512064" cy="512064"/>
          </a:xfrm>
          <a:prstGeom prst="ellipse">
            <a:avLst/>
          </a:prstGeom>
          <a:solidFill>
            <a:srgbClr val="EDE9E0"/>
          </a:solidFill>
          <a:ln/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0898" y="3839566"/>
            <a:ext cx="358445" cy="358445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1371600" y="3703320"/>
            <a:ext cx="233172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Transparencia</a:t>
            </a:r>
            <a:endParaRPr lang="en-US" sz="1400" dirty="0"/>
          </a:p>
        </p:txBody>
      </p:sp>
      <p:sp>
        <p:nvSpPr>
          <p:cNvPr id="16" name="Text 11"/>
          <p:cNvSpPr txBox="1"/>
          <p:nvPr/>
        </p:nvSpPr>
        <p:spPr>
          <a:xfrm>
            <a:off x="3794760" y="3703320"/>
            <a:ext cx="768096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D44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Declara qué herramienta usaste, qué le pediste y qué cambiaste — como en la portada de estas transparencias.</a:t>
            </a:r>
            <a:endParaRPr lang="en-US" sz="1250" dirty="0"/>
          </a:p>
        </p:txBody>
      </p:sp>
      <p:sp>
        <p:nvSpPr>
          <p:cNvPr id="17" name="Shape 12"/>
          <p:cNvSpPr/>
          <p:nvPr/>
        </p:nvSpPr>
        <p:spPr>
          <a:xfrm>
            <a:off x="704088" y="4539996"/>
            <a:ext cx="512064" cy="512064"/>
          </a:xfrm>
          <a:prstGeom prst="ellipse">
            <a:avLst/>
          </a:prstGeom>
          <a:solidFill>
            <a:srgbClr val="EDE9E0"/>
          </a:solidFill>
          <a:ln/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0898" y="4616806"/>
            <a:ext cx="358445" cy="358445"/>
          </a:xfrm>
          <a:prstGeom prst="rect">
            <a:avLst/>
          </a:prstGeom>
        </p:spPr>
      </p:pic>
      <p:sp>
        <p:nvSpPr>
          <p:cNvPr id="19" name="Text 13"/>
          <p:cNvSpPr txBox="1"/>
          <p:nvPr/>
        </p:nvSpPr>
        <p:spPr>
          <a:xfrm>
            <a:off x="1371600" y="4480560"/>
            <a:ext cx="233172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Evidencia real</a:t>
            </a:r>
            <a:endParaRPr lang="en-US" sz="1400" dirty="0"/>
          </a:p>
        </p:txBody>
      </p:sp>
      <p:sp>
        <p:nvSpPr>
          <p:cNvPr id="20" name="Text 14"/>
          <p:cNvSpPr txBox="1"/>
          <p:nvPr/>
        </p:nvSpPr>
        <p:spPr>
          <a:xfrm>
            <a:off x="3794760" y="4480560"/>
            <a:ext cx="768096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D44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IA no genera datos de ensayo ni resultados físicos: eso sale del banco de pruebas, no de un modelo de lenguaje.</a:t>
            </a:r>
            <a:endParaRPr lang="en-US" sz="1250" dirty="0"/>
          </a:p>
        </p:txBody>
      </p:sp>
      <p:sp>
        <p:nvSpPr>
          <p:cNvPr id="21" name="Shape 15"/>
          <p:cNvSpPr/>
          <p:nvPr/>
        </p:nvSpPr>
        <p:spPr>
          <a:xfrm>
            <a:off x="704088" y="5317236"/>
            <a:ext cx="512064" cy="512064"/>
          </a:xfrm>
          <a:prstGeom prst="ellipse">
            <a:avLst/>
          </a:prstGeom>
          <a:solidFill>
            <a:srgbClr val="EDE9E0"/>
          </a:solidFill>
          <a:ln/>
        </p:spPr>
      </p:sp>
      <p:pic>
        <p:nvPicPr>
          <p:cNvPr id="2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0898" y="5394046"/>
            <a:ext cx="358445" cy="358445"/>
          </a:xfrm>
          <a:prstGeom prst="rect">
            <a:avLst/>
          </a:prstGeom>
        </p:spPr>
      </p:pic>
      <p:sp>
        <p:nvSpPr>
          <p:cNvPr id="23" name="Text 16"/>
          <p:cNvSpPr txBox="1"/>
          <p:nvPr/>
        </p:nvSpPr>
        <p:spPr>
          <a:xfrm>
            <a:off x="1371600" y="5257800"/>
            <a:ext cx="233172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Aprender, no atajar</a:t>
            </a:r>
            <a:endParaRPr lang="en-US" sz="1400" dirty="0"/>
          </a:p>
        </p:txBody>
      </p:sp>
      <p:sp>
        <p:nvSpPr>
          <p:cNvPr id="24" name="Text 17"/>
          <p:cNvSpPr txBox="1"/>
          <p:nvPr/>
        </p:nvSpPr>
        <p:spPr>
          <a:xfrm>
            <a:off x="3794760" y="5257800"/>
            <a:ext cx="768096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D44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Úsala para explorar y acelerar — en el CDR defiendes tú el trabajo, no la IA.</a:t>
            </a:r>
            <a:endParaRPr lang="en-US" sz="1250" dirty="0"/>
          </a:p>
        </p:txBody>
      </p:sp>
      <p:sp>
        <p:nvSpPr>
          <p:cNvPr id="25" name="Text 18"/>
          <p:cNvSpPr txBox="1"/>
          <p:nvPr/>
        </p:nvSpPr>
        <p:spPr>
          <a:xfrm>
            <a:off x="11277295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77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6F4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029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838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PUNTO DE PARTIDA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868680"/>
            <a:ext cx="10789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D11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 robot lo diseñan muchos ingenieros a la vez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508760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D44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Mecánica, potencia, control, software, comunicaciones… cada disciplina resuelve su parte.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423160"/>
            <a:ext cx="1965960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3E0D8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234440" y="2656332"/>
            <a:ext cx="777240" cy="777240"/>
          </a:xfrm>
          <a:prstGeom prst="ellipse">
            <a:avLst/>
          </a:prstGeom>
          <a:solidFill>
            <a:srgbClr val="0D1117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51026" y="2772918"/>
            <a:ext cx="544068" cy="544068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731520" y="3611880"/>
            <a:ext cx="1783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Mecánica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2807208" y="2423160"/>
            <a:ext cx="1965960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3E0D8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3401568" y="2656332"/>
            <a:ext cx="777240" cy="777240"/>
          </a:xfrm>
          <a:prstGeom prst="ellipse">
            <a:avLst/>
          </a:prstGeom>
          <a:solidFill>
            <a:srgbClr val="0D1117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18154" y="2772918"/>
            <a:ext cx="544068" cy="544068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2898648" y="3611880"/>
            <a:ext cx="1783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Potencia</a:t>
            </a:r>
            <a:endParaRPr lang="en-US" sz="1300" dirty="0"/>
          </a:p>
        </p:txBody>
      </p:sp>
      <p:sp>
        <p:nvSpPr>
          <p:cNvPr id="13" name="Shape 9"/>
          <p:cNvSpPr/>
          <p:nvPr/>
        </p:nvSpPr>
        <p:spPr>
          <a:xfrm>
            <a:off x="4974336" y="2423160"/>
            <a:ext cx="1965960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3E0D8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14" name="Shape 10"/>
          <p:cNvSpPr/>
          <p:nvPr/>
        </p:nvSpPr>
        <p:spPr>
          <a:xfrm>
            <a:off x="5568696" y="2656332"/>
            <a:ext cx="777240" cy="777240"/>
          </a:xfrm>
          <a:prstGeom prst="ellipse">
            <a:avLst/>
          </a:prstGeom>
          <a:solidFill>
            <a:srgbClr val="0D1117"/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85282" y="2772918"/>
            <a:ext cx="544068" cy="544068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5065776" y="3611880"/>
            <a:ext cx="1783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</a:t>
            </a:r>
            <a:endParaRPr lang="en-US" sz="1300" dirty="0"/>
          </a:p>
        </p:txBody>
      </p:sp>
      <p:sp>
        <p:nvSpPr>
          <p:cNvPr id="17" name="Shape 12"/>
          <p:cNvSpPr/>
          <p:nvPr/>
        </p:nvSpPr>
        <p:spPr>
          <a:xfrm>
            <a:off x="7141464" y="2423160"/>
            <a:ext cx="1965960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3E0D8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18" name="Shape 13"/>
          <p:cNvSpPr/>
          <p:nvPr/>
        </p:nvSpPr>
        <p:spPr>
          <a:xfrm>
            <a:off x="7735824" y="2656332"/>
            <a:ext cx="777240" cy="777240"/>
          </a:xfrm>
          <a:prstGeom prst="ellipse">
            <a:avLst/>
          </a:prstGeom>
          <a:solidFill>
            <a:srgbClr val="0D1117"/>
          </a:solidFill>
          <a:ln/>
        </p:spPr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52410" y="2772918"/>
            <a:ext cx="544068" cy="544068"/>
          </a:xfrm>
          <a:prstGeom prst="rect">
            <a:avLst/>
          </a:prstGeom>
        </p:spPr>
      </p:pic>
      <p:sp>
        <p:nvSpPr>
          <p:cNvPr id="20" name="Text 14"/>
          <p:cNvSpPr txBox="1"/>
          <p:nvPr/>
        </p:nvSpPr>
        <p:spPr>
          <a:xfrm>
            <a:off x="7232904" y="3611880"/>
            <a:ext cx="1783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</a:t>
            </a:r>
            <a:endParaRPr lang="en-US" sz="1300" dirty="0"/>
          </a:p>
        </p:txBody>
      </p:sp>
      <p:sp>
        <p:nvSpPr>
          <p:cNvPr id="21" name="Shape 15"/>
          <p:cNvSpPr/>
          <p:nvPr/>
        </p:nvSpPr>
        <p:spPr>
          <a:xfrm>
            <a:off x="9308592" y="2423160"/>
            <a:ext cx="1965960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3E0D8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22" name="Shape 16"/>
          <p:cNvSpPr/>
          <p:nvPr/>
        </p:nvSpPr>
        <p:spPr>
          <a:xfrm>
            <a:off x="9902952" y="2656332"/>
            <a:ext cx="777240" cy="777240"/>
          </a:xfrm>
          <a:prstGeom prst="ellipse">
            <a:avLst/>
          </a:prstGeom>
          <a:solidFill>
            <a:srgbClr val="0D1117"/>
          </a:solidFill>
          <a:ln/>
        </p:spPr>
      </p:sp>
      <p:pic>
        <p:nvPicPr>
          <p:cNvPr id="2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019538" y="2772918"/>
            <a:ext cx="544068" cy="544068"/>
          </a:xfrm>
          <a:prstGeom prst="rect">
            <a:avLst/>
          </a:prstGeom>
        </p:spPr>
      </p:pic>
      <p:sp>
        <p:nvSpPr>
          <p:cNvPr id="24" name="Text 17"/>
          <p:cNvSpPr txBox="1"/>
          <p:nvPr/>
        </p:nvSpPr>
        <p:spPr>
          <a:xfrm>
            <a:off x="9400032" y="3611880"/>
            <a:ext cx="1783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Comunicaciones</a:t>
            </a:r>
            <a:endParaRPr lang="en-US" sz="1300" dirty="0"/>
          </a:p>
        </p:txBody>
      </p:sp>
      <p:sp>
        <p:nvSpPr>
          <p:cNvPr id="25" name="Shape 18"/>
          <p:cNvSpPr/>
          <p:nvPr/>
        </p:nvSpPr>
        <p:spPr>
          <a:xfrm>
            <a:off x="640080" y="4663440"/>
            <a:ext cx="10908792" cy="1051560"/>
          </a:xfrm>
          <a:prstGeom prst="roundRect">
            <a:avLst>
              <a:gd name="adj" fmla="val 6957"/>
            </a:avLst>
          </a:prstGeom>
          <a:solidFill>
            <a:srgbClr val="0D1117"/>
          </a:solidFill>
          <a:ln/>
        </p:spPr>
      </p:sp>
      <p:sp>
        <p:nvSpPr>
          <p:cNvPr id="26" name="Text 19"/>
          <p:cNvSpPr txBox="1"/>
          <p:nvPr/>
        </p:nvSpPr>
        <p:spPr>
          <a:xfrm>
            <a:off x="1005840" y="4663440"/>
            <a:ext cx="1017727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C7CC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uno domina su parte. </a:t>
            </a:r>
            <a:pPr indent="0" marL="0">
              <a:buNone/>
            </a:pPr>
            <a:r>
              <a:rPr lang="en-US" sz="1700" b="1" dirty="0">
                <a:solidFill>
                  <a:srgbClr val="F6F4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Nadie domina el conjunto</a:t>
            </a:r>
            <a:pPr indent="0" marL="0">
              <a:buNone/>
            </a:pPr>
            <a:r>
              <a:rPr lang="en-US" sz="1700" dirty="0">
                <a:solidFill>
                  <a:srgbClr val="C7CC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hasta que alguien asume ese papel.</a:t>
            </a:r>
            <a:endParaRPr lang="en-US" sz="1700" dirty="0"/>
          </a:p>
        </p:txBody>
      </p:sp>
      <p:sp>
        <p:nvSpPr>
          <p:cNvPr id="27" name="Text 20"/>
          <p:cNvSpPr txBox="1"/>
          <p:nvPr/>
        </p:nvSpPr>
        <p:spPr>
          <a:xfrm>
            <a:off x="11277295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77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6F4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029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838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DEFINICIÓN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86868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D11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¿Qué es la Ingeniería de Sistemas?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508760"/>
            <a:ext cx="9601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D44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disciplina que se ocupa del conjunto, no de una parte: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76656" y="2240280"/>
            <a:ext cx="566928" cy="566928"/>
          </a:xfrm>
          <a:prstGeom prst="ellipse">
            <a:avLst/>
          </a:prstGeom>
          <a:solidFill>
            <a:srgbClr val="EDE9E0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1695" y="2325319"/>
            <a:ext cx="396850" cy="39685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417320" y="2148840"/>
            <a:ext cx="2377440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Requisitos</a:t>
            </a:r>
            <a:endParaRPr lang="en-US" sz="1500" dirty="0"/>
          </a:p>
        </p:txBody>
      </p:sp>
      <p:sp>
        <p:nvSpPr>
          <p:cNvPr id="8" name="Text 5"/>
          <p:cNvSpPr txBox="1"/>
          <p:nvPr/>
        </p:nvSpPr>
        <p:spPr>
          <a:xfrm>
            <a:off x="3886200" y="2148840"/>
            <a:ext cx="7589520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3D44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Traducir lo que necesita el cliente en requisitos claros y verificables.</a:t>
            </a:r>
            <a:endParaRPr lang="en-US" sz="1350" dirty="0"/>
          </a:p>
        </p:txBody>
      </p:sp>
      <p:sp>
        <p:nvSpPr>
          <p:cNvPr id="9" name="Shape 6"/>
          <p:cNvSpPr/>
          <p:nvPr/>
        </p:nvSpPr>
        <p:spPr>
          <a:xfrm>
            <a:off x="676656" y="3136392"/>
            <a:ext cx="566928" cy="566928"/>
          </a:xfrm>
          <a:prstGeom prst="ellipse">
            <a:avLst/>
          </a:prstGeom>
          <a:solidFill>
            <a:srgbClr val="EDE9E0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1695" y="3221431"/>
            <a:ext cx="396850" cy="39685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1417320" y="3044952"/>
            <a:ext cx="2377440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Interfaces</a:t>
            </a:r>
            <a:endParaRPr lang="en-US" sz="1500" dirty="0"/>
          </a:p>
        </p:txBody>
      </p:sp>
      <p:sp>
        <p:nvSpPr>
          <p:cNvPr id="12" name="Text 8"/>
          <p:cNvSpPr txBox="1"/>
          <p:nvPr/>
        </p:nvSpPr>
        <p:spPr>
          <a:xfrm>
            <a:off x="3886200" y="3044952"/>
            <a:ext cx="7589520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3D44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Repartir el sistema en subsistemas y definir cómo encajan entre sí.</a:t>
            </a:r>
            <a:endParaRPr lang="en-US" sz="1350" dirty="0"/>
          </a:p>
        </p:txBody>
      </p:sp>
      <p:sp>
        <p:nvSpPr>
          <p:cNvPr id="13" name="Shape 9"/>
          <p:cNvSpPr/>
          <p:nvPr/>
        </p:nvSpPr>
        <p:spPr>
          <a:xfrm>
            <a:off x="676656" y="4032504"/>
            <a:ext cx="566928" cy="566928"/>
          </a:xfrm>
          <a:prstGeom prst="ellipse">
            <a:avLst/>
          </a:prstGeom>
          <a:solidFill>
            <a:srgbClr val="EDE9E0"/>
          </a:solidFill>
          <a:ln/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1695" y="4117543"/>
            <a:ext cx="396850" cy="396850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1417320" y="3941064"/>
            <a:ext cx="2377440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Trazabilidad</a:t>
            </a:r>
            <a:endParaRPr lang="en-US" sz="1500" dirty="0"/>
          </a:p>
        </p:txBody>
      </p:sp>
      <p:sp>
        <p:nvSpPr>
          <p:cNvPr id="16" name="Text 11"/>
          <p:cNvSpPr txBox="1"/>
          <p:nvPr/>
        </p:nvSpPr>
        <p:spPr>
          <a:xfrm>
            <a:off x="3886200" y="3941064"/>
            <a:ext cx="7589520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3D44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Saber en todo momento por qué existe cada pieza y qué requisito la justifica.</a:t>
            </a:r>
            <a:endParaRPr lang="en-US" sz="1350" dirty="0"/>
          </a:p>
        </p:txBody>
      </p:sp>
      <p:sp>
        <p:nvSpPr>
          <p:cNvPr id="17" name="Shape 12"/>
          <p:cNvSpPr/>
          <p:nvPr/>
        </p:nvSpPr>
        <p:spPr>
          <a:xfrm>
            <a:off x="676656" y="4928616"/>
            <a:ext cx="566928" cy="566928"/>
          </a:xfrm>
          <a:prstGeom prst="ellipse">
            <a:avLst/>
          </a:prstGeom>
          <a:solidFill>
            <a:srgbClr val="EDE9E0"/>
          </a:solidFill>
          <a:ln/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1695" y="5013655"/>
            <a:ext cx="396850" cy="396850"/>
          </a:xfrm>
          <a:prstGeom prst="rect">
            <a:avLst/>
          </a:prstGeom>
        </p:spPr>
      </p:pic>
      <p:sp>
        <p:nvSpPr>
          <p:cNvPr id="19" name="Text 13"/>
          <p:cNvSpPr txBox="1"/>
          <p:nvPr/>
        </p:nvSpPr>
        <p:spPr>
          <a:xfrm>
            <a:off x="1417320" y="4837176"/>
            <a:ext cx="2377440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Verificación</a:t>
            </a:r>
            <a:endParaRPr lang="en-US" sz="1500" dirty="0"/>
          </a:p>
        </p:txBody>
      </p:sp>
      <p:sp>
        <p:nvSpPr>
          <p:cNvPr id="20" name="Text 14"/>
          <p:cNvSpPr txBox="1"/>
          <p:nvPr/>
        </p:nvSpPr>
        <p:spPr>
          <a:xfrm>
            <a:off x="3886200" y="4837176"/>
            <a:ext cx="7589520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3D44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Comprobar al final que el sistema hace lo que tenía que hacer.</a:t>
            </a:r>
            <a:endParaRPr lang="en-US" sz="1350" dirty="0"/>
          </a:p>
        </p:txBody>
      </p:sp>
      <p:sp>
        <p:nvSpPr>
          <p:cNvPr id="21" name="Text 15"/>
          <p:cNvSpPr txBox="1"/>
          <p:nvPr/>
        </p:nvSpPr>
        <p:spPr>
          <a:xfrm>
            <a:off x="11277295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77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21488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88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PAPEL DEL INGENIERO DE SISTEMAS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2606040"/>
            <a:ext cx="1024128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3000" dirty="0">
                <a:solidFill>
                  <a:srgbClr val="9199A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 es quien más sabe de motores ni de código.
</a:t>
            </a:r>
            <a:pPr indent="0" marL="0">
              <a:lnSpc>
                <a:spcPct val="120000"/>
              </a:lnSpc>
              <a:buNone/>
            </a:pPr>
            <a:r>
              <a:rPr lang="en-US" sz="3000" b="1" dirty="0">
                <a:solidFill>
                  <a:srgbClr val="F6F4E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 quien es dueño de las interfaces</a:t>
            </a:r>
            <a:endParaRPr lang="en-US" sz="3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3000" b="1" dirty="0">
                <a:solidFill>
                  <a:srgbClr val="F6F4E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 de la coherencia del todo.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11277295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6F4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029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838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TEXTO DE REFERENCIA DEL CURSO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86868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D11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 manual: Systems Engineering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3291840" cy="4160520"/>
          </a:xfrm>
          <a:prstGeom prst="roundRect">
            <a:avLst>
              <a:gd name="adj" fmla="val 2778"/>
            </a:avLst>
          </a:prstGeom>
          <a:solidFill>
            <a:srgbClr val="0D1117"/>
          </a:solidFill>
          <a:ln/>
          <a:effectLst>
            <a:outerShdw sx="100000" sy="100000" kx="0" ky="0" algn="bl" rotWithShape="0" blurRad="177800" dist="63500" dir="5400000">
              <a:srgbClr val="000000">
                <a:alpha val="18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0120" y="2240280"/>
            <a:ext cx="566928" cy="566928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960120" y="2971800"/>
            <a:ext cx="26517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2400" b="1" dirty="0">
                <a:solidFill>
                  <a:srgbClr val="F6F4E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SYSTEMS</a:t>
            </a:r>
            <a:endParaRPr lang="en-US" sz="2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2400" b="1" dirty="0">
                <a:solidFill>
                  <a:srgbClr val="F6F4E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ENGINEERING</a:t>
            </a:r>
            <a:endParaRPr lang="en-US" sz="2400" dirty="0"/>
          </a:p>
        </p:txBody>
      </p:sp>
      <p:sp>
        <p:nvSpPr>
          <p:cNvPr id="7" name="Text 4"/>
          <p:cNvSpPr txBox="1"/>
          <p:nvPr/>
        </p:nvSpPr>
        <p:spPr>
          <a:xfrm>
            <a:off x="960120" y="402336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7CC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Theory and Practice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960120" y="4800600"/>
            <a:ext cx="2651760" cy="18288"/>
          </a:xfrm>
          <a:prstGeom prst="rect">
            <a:avLst/>
          </a:prstGeom>
          <a:solidFill>
            <a:srgbClr val="2A3646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960120" y="4937760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F6F4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Alberto Sols</a:t>
            </a:r>
            <a:endParaRPr lang="en-US" sz="13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F6F4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Rodríguez-Candela</a:t>
            </a:r>
            <a:endParaRPr lang="en-US" sz="1300" dirty="0"/>
          </a:p>
        </p:txBody>
      </p:sp>
      <p:sp>
        <p:nvSpPr>
          <p:cNvPr id="10" name="Text 7"/>
          <p:cNvSpPr txBox="1"/>
          <p:nvPr/>
        </p:nvSpPr>
        <p:spPr>
          <a:xfrm>
            <a:off x="960120" y="553212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9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Universidad Pontificia Comillas</a:t>
            </a:r>
            <a:endParaRPr lang="en-US" sz="1100" dirty="0"/>
          </a:p>
        </p:txBody>
      </p:sp>
      <p:sp>
        <p:nvSpPr>
          <p:cNvPr id="11" name="Text 8"/>
          <p:cNvSpPr txBox="1"/>
          <p:nvPr/>
        </p:nvSpPr>
        <p:spPr>
          <a:xfrm>
            <a:off x="4480560" y="1874520"/>
            <a:ext cx="706831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3D44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 el texto de referencia del curso. Iremos asignando lecturas semana a semana, en paralelo con el proyecto del robot.</a:t>
            </a:r>
            <a:endParaRPr lang="en-US" sz="1450" dirty="0"/>
          </a:p>
        </p:txBody>
      </p:sp>
      <p:sp>
        <p:nvSpPr>
          <p:cNvPr id="12" name="Shape 9"/>
          <p:cNvSpPr/>
          <p:nvPr/>
        </p:nvSpPr>
        <p:spPr>
          <a:xfrm>
            <a:off x="4480560" y="2907792"/>
            <a:ext cx="91440" cy="91440"/>
          </a:xfrm>
          <a:prstGeom prst="ellipse">
            <a:avLst/>
          </a:prstGeom>
          <a:solidFill>
            <a:srgbClr val="1A4F8A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4754880" y="2788920"/>
            <a:ext cx="67939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ciclo de vida del sistema y el ciclo en V</a:t>
            </a:r>
            <a:endParaRPr lang="en-US" sz="1400" dirty="0"/>
          </a:p>
        </p:txBody>
      </p:sp>
      <p:sp>
        <p:nvSpPr>
          <p:cNvPr id="14" name="Shape 11"/>
          <p:cNvSpPr/>
          <p:nvPr/>
        </p:nvSpPr>
        <p:spPr>
          <a:xfrm>
            <a:off x="4480560" y="3474720"/>
            <a:ext cx="91440" cy="91440"/>
          </a:xfrm>
          <a:prstGeom prst="ellipse">
            <a:avLst/>
          </a:prstGeom>
          <a:solidFill>
            <a:srgbClr val="1A4F8A"/>
          </a:solidFill>
          <a:ln/>
        </p:spPr>
      </p:sp>
      <p:sp>
        <p:nvSpPr>
          <p:cNvPr id="15" name="Text 12"/>
          <p:cNvSpPr txBox="1"/>
          <p:nvPr/>
        </p:nvSpPr>
        <p:spPr>
          <a:xfrm>
            <a:off x="4754880" y="3355848"/>
            <a:ext cx="67939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Ingeniería de requisitos</a:t>
            </a:r>
            <a:endParaRPr lang="en-US" sz="1400" dirty="0"/>
          </a:p>
        </p:txBody>
      </p:sp>
      <p:sp>
        <p:nvSpPr>
          <p:cNvPr id="16" name="Shape 13"/>
          <p:cNvSpPr/>
          <p:nvPr/>
        </p:nvSpPr>
        <p:spPr>
          <a:xfrm>
            <a:off x="4480560" y="4041648"/>
            <a:ext cx="91440" cy="91440"/>
          </a:xfrm>
          <a:prstGeom prst="ellipse">
            <a:avLst/>
          </a:prstGeom>
          <a:solidFill>
            <a:srgbClr val="1A4F8A"/>
          </a:solidFill>
          <a:ln/>
        </p:spPr>
      </p:sp>
      <p:sp>
        <p:nvSpPr>
          <p:cNvPr id="17" name="Text 14"/>
          <p:cNvSpPr txBox="1"/>
          <p:nvPr/>
        </p:nvSpPr>
        <p:spPr>
          <a:xfrm>
            <a:off x="4754880" y="3922776"/>
            <a:ext cx="67939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Arquitectura y modelado (MBSE / SysML)</a:t>
            </a:r>
            <a:endParaRPr lang="en-US" sz="1400" dirty="0"/>
          </a:p>
        </p:txBody>
      </p:sp>
      <p:sp>
        <p:nvSpPr>
          <p:cNvPr id="18" name="Shape 15"/>
          <p:cNvSpPr/>
          <p:nvPr/>
        </p:nvSpPr>
        <p:spPr>
          <a:xfrm>
            <a:off x="4480560" y="4608576"/>
            <a:ext cx="91440" cy="91440"/>
          </a:xfrm>
          <a:prstGeom prst="ellipse">
            <a:avLst/>
          </a:prstGeom>
          <a:solidFill>
            <a:srgbClr val="1A4F8A"/>
          </a:solidFill>
          <a:ln/>
        </p:spPr>
      </p:sp>
      <p:sp>
        <p:nvSpPr>
          <p:cNvPr id="19" name="Text 16"/>
          <p:cNvSpPr txBox="1"/>
          <p:nvPr/>
        </p:nvSpPr>
        <p:spPr>
          <a:xfrm>
            <a:off x="4754880" y="4489704"/>
            <a:ext cx="67939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Verificación, validación y evidencia</a:t>
            </a:r>
            <a:endParaRPr lang="en-US" sz="1400" dirty="0"/>
          </a:p>
        </p:txBody>
      </p:sp>
      <p:sp>
        <p:nvSpPr>
          <p:cNvPr id="20" name="Shape 17"/>
          <p:cNvSpPr/>
          <p:nvPr/>
        </p:nvSpPr>
        <p:spPr>
          <a:xfrm>
            <a:off x="4480560" y="5257800"/>
            <a:ext cx="7068312" cy="777240"/>
          </a:xfrm>
          <a:prstGeom prst="roundRect">
            <a:avLst>
              <a:gd name="adj" fmla="val 9412"/>
            </a:avLst>
          </a:prstGeom>
          <a:solidFill>
            <a:srgbClr val="EDE9E0"/>
          </a:solidFill>
          <a:ln/>
        </p:spPr>
      </p:sp>
      <p:sp>
        <p:nvSpPr>
          <p:cNvPr id="21" name="Text 18"/>
          <p:cNvSpPr txBox="1"/>
          <p:nvPr/>
        </p:nvSpPr>
        <p:spPr>
          <a:xfrm>
            <a:off x="4754880" y="5257800"/>
            <a:ext cx="6519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3D44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Lecturas asignadas semana a semana en el canal del curso — no hace falta leerlo entero de golpe.</a:t>
            </a:r>
            <a:endParaRPr lang="en-US" sz="1250" dirty="0"/>
          </a:p>
        </p:txBody>
      </p:sp>
      <p:sp>
        <p:nvSpPr>
          <p:cNvPr id="22" name="Text 19"/>
          <p:cNvSpPr txBox="1"/>
          <p:nvPr/>
        </p:nvSpPr>
        <p:spPr>
          <a:xfrm>
            <a:off x="11277295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77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6F4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029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838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QUÉ “BASADA EN MODELOS”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868680"/>
            <a:ext cx="10789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D11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 una pila de documentos a un modelo único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920240"/>
            <a:ext cx="5074920" cy="3977640"/>
          </a:xfrm>
          <a:prstGeom prst="roundRect">
            <a:avLst>
              <a:gd name="adj" fmla="val 1839"/>
            </a:avLst>
          </a:prstGeom>
          <a:solidFill>
            <a:srgbClr val="FFFFFF"/>
          </a:solidFill>
          <a:ln w="12700">
            <a:solidFill>
              <a:srgbClr val="E3E0D8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05840" y="2240280"/>
            <a:ext cx="4343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6E77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ANTES · DOCUMENTOS DISPERSOS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1005840" y="2743200"/>
            <a:ext cx="4343400" cy="502920"/>
          </a:xfrm>
          <a:prstGeom prst="roundRect">
            <a:avLst>
              <a:gd name="adj" fmla="val 10909"/>
            </a:avLst>
          </a:prstGeom>
          <a:solidFill>
            <a:srgbClr val="EDE9E0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43000" y="2852928"/>
            <a:ext cx="292608" cy="292608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1554480" y="2743200"/>
            <a:ext cx="3794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D44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— requisitos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1005840" y="3364992"/>
            <a:ext cx="4343400" cy="502920"/>
          </a:xfrm>
          <a:prstGeom prst="roundRect">
            <a:avLst>
              <a:gd name="adj" fmla="val 10909"/>
            </a:avLst>
          </a:prstGeom>
          <a:solidFill>
            <a:srgbClr val="EDE9E0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3000" y="3474720"/>
            <a:ext cx="292608" cy="292608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1554480" y="3364992"/>
            <a:ext cx="3794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D44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Excel — interfaces</a:t>
            </a:r>
            <a:endParaRPr lang="en-US" sz="1300" dirty="0"/>
          </a:p>
        </p:txBody>
      </p:sp>
      <p:sp>
        <p:nvSpPr>
          <p:cNvPr id="12" name="Shape 8"/>
          <p:cNvSpPr/>
          <p:nvPr/>
        </p:nvSpPr>
        <p:spPr>
          <a:xfrm>
            <a:off x="1005840" y="3986784"/>
            <a:ext cx="4343400" cy="502920"/>
          </a:xfrm>
          <a:prstGeom prst="roundRect">
            <a:avLst>
              <a:gd name="adj" fmla="val 10909"/>
            </a:avLst>
          </a:prstGeom>
          <a:solidFill>
            <a:srgbClr val="EDE9E0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3000" y="4096512"/>
            <a:ext cx="292608" cy="292608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1554480" y="3986784"/>
            <a:ext cx="3794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D44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PowerPoint — arquitectura</a:t>
            </a:r>
            <a:endParaRPr lang="en-US" sz="1300" dirty="0"/>
          </a:p>
        </p:txBody>
      </p:sp>
      <p:sp>
        <p:nvSpPr>
          <p:cNvPr id="15" name="Shape 10"/>
          <p:cNvSpPr/>
          <p:nvPr/>
        </p:nvSpPr>
        <p:spPr>
          <a:xfrm>
            <a:off x="1005840" y="4608576"/>
            <a:ext cx="4343400" cy="502920"/>
          </a:xfrm>
          <a:prstGeom prst="roundRect">
            <a:avLst>
              <a:gd name="adj" fmla="val 10909"/>
            </a:avLst>
          </a:prstGeom>
          <a:solidFill>
            <a:srgbClr val="EDE9E0"/>
          </a:solidFill>
          <a:ln/>
        </p:spPr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43000" y="4718304"/>
            <a:ext cx="292608" cy="292608"/>
          </a:xfrm>
          <a:prstGeom prst="rect">
            <a:avLst/>
          </a:prstGeom>
        </p:spPr>
      </p:pic>
      <p:sp>
        <p:nvSpPr>
          <p:cNvPr id="17" name="Text 11"/>
          <p:cNvSpPr txBox="1"/>
          <p:nvPr/>
        </p:nvSpPr>
        <p:spPr>
          <a:xfrm>
            <a:off x="1554480" y="4608576"/>
            <a:ext cx="3794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D44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 — pruebas</a:t>
            </a:r>
            <a:endParaRPr lang="en-US" sz="1300" dirty="0"/>
          </a:p>
        </p:txBody>
      </p:sp>
      <p:sp>
        <p:nvSpPr>
          <p:cNvPr id="18" name="Text 12"/>
          <p:cNvSpPr txBox="1"/>
          <p:nvPr/>
        </p:nvSpPr>
        <p:spPr>
          <a:xfrm>
            <a:off x="1005840" y="5257800"/>
            <a:ext cx="4343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6E77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 primer cambio, dejan de estar de acuerdo entre sí — y nadie sabe cuál vale.</a:t>
            </a:r>
            <a:endParaRPr lang="en-US" sz="1250" dirty="0"/>
          </a:p>
        </p:txBody>
      </p:sp>
      <p:sp>
        <p:nvSpPr>
          <p:cNvPr id="19" name="Shape 13"/>
          <p:cNvSpPr/>
          <p:nvPr/>
        </p:nvSpPr>
        <p:spPr>
          <a:xfrm>
            <a:off x="6473952" y="1920240"/>
            <a:ext cx="5074920" cy="3977640"/>
          </a:xfrm>
          <a:prstGeom prst="roundRect">
            <a:avLst>
              <a:gd name="adj" fmla="val 1839"/>
            </a:avLst>
          </a:prstGeom>
          <a:solidFill>
            <a:srgbClr val="0D1117"/>
          </a:solidFill>
          <a:ln/>
          <a:effectLst>
            <a:outerShdw sx="100000" sy="100000" kx="0" ky="0" algn="bl" rotWithShape="0" blurRad="152400" dist="50800" dir="5400000">
              <a:srgbClr val="000000">
                <a:alpha val="15000"/>
              </a:srgbClr>
            </a:outerShdw>
          </a:effectLst>
        </p:spPr>
      </p:sp>
      <p:sp>
        <p:nvSpPr>
          <p:cNvPr id="20" name="Text 14"/>
          <p:cNvSpPr txBox="1"/>
          <p:nvPr/>
        </p:nvSpPr>
        <p:spPr>
          <a:xfrm>
            <a:off x="6839712" y="2240280"/>
            <a:ext cx="4343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8FD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MBSE · UN MODELO ÚNICO</a:t>
            </a:r>
            <a:endParaRPr lang="en-US" sz="1100" dirty="0"/>
          </a:p>
        </p:txBody>
      </p:sp>
      <p:sp>
        <p:nvSpPr>
          <p:cNvPr id="21" name="Shape 15"/>
          <p:cNvSpPr/>
          <p:nvPr/>
        </p:nvSpPr>
        <p:spPr>
          <a:xfrm>
            <a:off x="8485632" y="2994660"/>
            <a:ext cx="1051560" cy="1051560"/>
          </a:xfrm>
          <a:prstGeom prst="ellipse">
            <a:avLst/>
          </a:prstGeom>
          <a:solidFill>
            <a:srgbClr val="16321F"/>
          </a:solidFill>
          <a:ln/>
        </p:spPr>
      </p:sp>
      <p:pic>
        <p:nvPicPr>
          <p:cNvPr id="2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43366" y="3152394"/>
            <a:ext cx="736092" cy="736092"/>
          </a:xfrm>
          <a:prstGeom prst="rect">
            <a:avLst/>
          </a:prstGeom>
        </p:spPr>
      </p:pic>
      <p:sp>
        <p:nvSpPr>
          <p:cNvPr id="23" name="Text 16"/>
          <p:cNvSpPr txBox="1"/>
          <p:nvPr/>
        </p:nvSpPr>
        <p:spPr>
          <a:xfrm>
            <a:off x="6931152" y="4251960"/>
            <a:ext cx="4160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5D9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Bloques, interfaces, requisitos y sus enlaces viven juntos y consistentes.</a:t>
            </a:r>
            <a:endParaRPr lang="en-US" sz="1400" dirty="0"/>
          </a:p>
        </p:txBody>
      </p:sp>
      <p:sp>
        <p:nvSpPr>
          <p:cNvPr id="24" name="Text 17"/>
          <p:cNvSpPr txBox="1"/>
          <p:nvPr/>
        </p:nvSpPr>
        <p:spPr>
          <a:xfrm>
            <a:off x="6931152" y="5166360"/>
            <a:ext cx="4160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F6F4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modelo es la fuente de verdad.</a:t>
            </a:r>
            <a:endParaRPr lang="en-US" sz="1450" dirty="0"/>
          </a:p>
        </p:txBody>
      </p:sp>
      <p:sp>
        <p:nvSpPr>
          <p:cNvPr id="25" name="Text 18"/>
          <p:cNvSpPr txBox="1"/>
          <p:nvPr/>
        </p:nvSpPr>
        <p:spPr>
          <a:xfrm>
            <a:off x="640080" y="6126480"/>
            <a:ext cx="109087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este curso: </a:t>
            </a:r>
            <a:pPr indent="0" marL="0">
              <a:buNone/>
            </a:pPr>
            <a:r>
              <a:rPr lang="en-US" sz="1300" dirty="0">
                <a:solidFill>
                  <a:srgbClr val="3D44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MATLAB System Composer (arquitectura) + simulación por computador (verificación).</a:t>
            </a:r>
            <a:endParaRPr lang="en-US" sz="1300" dirty="0"/>
          </a:p>
        </p:txBody>
      </p:sp>
      <p:sp>
        <p:nvSpPr>
          <p:cNvPr id="26" name="Text 19"/>
          <p:cNvSpPr txBox="1"/>
          <p:nvPr/>
        </p:nvSpPr>
        <p:spPr>
          <a:xfrm>
            <a:off x="11277295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77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6F4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029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838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CÓMO SE ORGANIZA EL TRABAJO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86868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D11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 ciclo en V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2823210" y="2948940"/>
            <a:ext cx="6377940" cy="9144"/>
          </a:xfrm>
          <a:prstGeom prst="line">
            <a:avLst/>
          </a:prstGeom>
          <a:noFill/>
          <a:ln w="12700">
            <a:solidFill>
              <a:srgbClr val="C9C2B4"/>
            </a:solidFill>
            <a:prstDash val="dash"/>
          </a:ln>
        </p:spPr>
      </p:sp>
      <p:sp>
        <p:nvSpPr>
          <p:cNvPr id="5" name="Shape 3"/>
          <p:cNvSpPr/>
          <p:nvPr/>
        </p:nvSpPr>
        <p:spPr>
          <a:xfrm>
            <a:off x="3909060" y="3749040"/>
            <a:ext cx="4251960" cy="9144"/>
          </a:xfrm>
          <a:prstGeom prst="line">
            <a:avLst/>
          </a:prstGeom>
          <a:noFill/>
          <a:ln w="12700">
            <a:solidFill>
              <a:srgbClr val="C9C2B4"/>
            </a:solidFill>
            <a:prstDash val="dash"/>
          </a:ln>
        </p:spPr>
      </p:sp>
      <p:sp>
        <p:nvSpPr>
          <p:cNvPr id="6" name="Shape 4"/>
          <p:cNvSpPr/>
          <p:nvPr/>
        </p:nvSpPr>
        <p:spPr>
          <a:xfrm>
            <a:off x="4994910" y="4549140"/>
            <a:ext cx="2125980" cy="9144"/>
          </a:xfrm>
          <a:prstGeom prst="line">
            <a:avLst/>
          </a:prstGeom>
          <a:noFill/>
          <a:ln w="12700">
            <a:solidFill>
              <a:srgbClr val="C9C2B4"/>
            </a:solidFill>
            <a:prstDash val="dash"/>
          </a:ln>
        </p:spPr>
      </p:sp>
      <p:sp>
        <p:nvSpPr>
          <p:cNvPr id="7" name="Shape 5"/>
          <p:cNvSpPr/>
          <p:nvPr/>
        </p:nvSpPr>
        <p:spPr>
          <a:xfrm>
            <a:off x="1737360" y="2148840"/>
            <a:ext cx="4343400" cy="3200400"/>
          </a:xfrm>
          <a:prstGeom prst="line">
            <a:avLst/>
          </a:prstGeom>
          <a:noFill/>
          <a:ln w="41275">
            <a:solidFill>
              <a:srgbClr val="1A4F8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 flipV="1">
            <a:off x="6080760" y="2148840"/>
            <a:ext cx="4160520" cy="3200400"/>
          </a:xfrm>
          <a:prstGeom prst="line">
            <a:avLst/>
          </a:prstGeom>
          <a:noFill/>
          <a:ln w="41275">
            <a:solidFill>
              <a:srgbClr val="1A4F8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655064" y="2066544"/>
            <a:ext cx="164592" cy="164592"/>
          </a:xfrm>
          <a:prstGeom prst="ellipse">
            <a:avLst/>
          </a:prstGeom>
          <a:solidFill>
            <a:srgbClr val="B8860B"/>
          </a:solidFill>
          <a:ln w="19050">
            <a:solidFill>
              <a:srgbClr val="F6F4EF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85800" y="164592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Necesidades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2740914" y="2866644"/>
            <a:ext cx="164592" cy="164592"/>
          </a:xfrm>
          <a:prstGeom prst="ellipse">
            <a:avLst/>
          </a:prstGeom>
          <a:solidFill>
            <a:srgbClr val="B8860B"/>
          </a:solidFill>
          <a:ln w="19050">
            <a:solidFill>
              <a:srgbClr val="F6F4EF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92658" y="2747772"/>
            <a:ext cx="1965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Requisitos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3826764" y="3666744"/>
            <a:ext cx="164592" cy="164592"/>
          </a:xfrm>
          <a:prstGeom prst="ellipse">
            <a:avLst/>
          </a:prstGeom>
          <a:solidFill>
            <a:srgbClr val="B8860B"/>
          </a:solidFill>
          <a:ln w="19050">
            <a:solidFill>
              <a:srgbClr val="F6F4EF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1778508" y="3547872"/>
            <a:ext cx="1965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Arquitectura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4912614" y="4466844"/>
            <a:ext cx="164592" cy="164592"/>
          </a:xfrm>
          <a:prstGeom prst="ellipse">
            <a:avLst/>
          </a:prstGeom>
          <a:solidFill>
            <a:srgbClr val="B8860B"/>
          </a:solidFill>
          <a:ln w="19050">
            <a:solidFill>
              <a:srgbClr val="F6F4EF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2864358" y="4347972"/>
            <a:ext cx="1965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Diseño de detalle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7038594" y="4466844"/>
            <a:ext cx="164592" cy="164592"/>
          </a:xfrm>
          <a:prstGeom prst="ellipse">
            <a:avLst/>
          </a:prstGeom>
          <a:solidFill>
            <a:srgbClr val="B8860B"/>
          </a:solidFill>
          <a:ln w="19050">
            <a:solidFill>
              <a:srgbClr val="F6F4EF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7285482" y="4347972"/>
            <a:ext cx="1965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Pruebas de subsistema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8078724" y="3666744"/>
            <a:ext cx="164592" cy="164592"/>
          </a:xfrm>
          <a:prstGeom prst="ellipse">
            <a:avLst/>
          </a:prstGeom>
          <a:solidFill>
            <a:srgbClr val="B8860B"/>
          </a:solidFill>
          <a:ln w="19050">
            <a:solidFill>
              <a:srgbClr val="F6F4EF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8325612" y="3547872"/>
            <a:ext cx="1965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Integración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9118854" y="2866644"/>
            <a:ext cx="164592" cy="164592"/>
          </a:xfrm>
          <a:prstGeom prst="ellipse">
            <a:avLst/>
          </a:prstGeom>
          <a:solidFill>
            <a:srgbClr val="B8860B"/>
          </a:solidFill>
          <a:ln w="19050">
            <a:solidFill>
              <a:srgbClr val="F6F4EF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9365742" y="2747772"/>
            <a:ext cx="1965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Verificación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10158984" y="2066544"/>
            <a:ext cx="164592" cy="164592"/>
          </a:xfrm>
          <a:prstGeom prst="ellipse">
            <a:avLst/>
          </a:prstGeom>
          <a:solidFill>
            <a:srgbClr val="B8860B"/>
          </a:solidFill>
          <a:ln w="19050">
            <a:solidFill>
              <a:srgbClr val="F6F4EF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9189720" y="164592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Validación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5980176" y="5248656"/>
            <a:ext cx="201168" cy="201168"/>
          </a:xfrm>
          <a:prstGeom prst="ellipse">
            <a:avLst/>
          </a:prstGeom>
          <a:solidFill>
            <a:srgbClr val="C8382A"/>
          </a:solidFill>
          <a:ln w="19050">
            <a:solidFill>
              <a:srgbClr val="F6F4EF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5074920" y="5477256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C838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Implementación</a:t>
            </a:r>
            <a:endParaRPr lang="en-US" sz="1250" dirty="0"/>
          </a:p>
        </p:txBody>
      </p:sp>
      <p:sp>
        <p:nvSpPr>
          <p:cNvPr id="27" name="Text 25"/>
          <p:cNvSpPr txBox="1"/>
          <p:nvPr/>
        </p:nvSpPr>
        <p:spPr>
          <a:xfrm>
            <a:off x="640080" y="6035040"/>
            <a:ext cx="109087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Rama izquierda: </a:t>
            </a:r>
            <a:pPr indent="0" marL="0">
              <a:buNone/>
            </a:pPr>
            <a:r>
              <a:rPr lang="en-US" sz="1250" dirty="0">
                <a:solidFill>
                  <a:srgbClr val="3D44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lo abstracto a lo concreto.  </a:t>
            </a:r>
            <a:pPr indent="0" marL="0">
              <a:buNone/>
            </a:pPr>
            <a:r>
              <a:rPr lang="en-US" sz="125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Rama derecha: </a:t>
            </a:r>
            <a:pPr indent="0" marL="0">
              <a:buNone/>
            </a:pPr>
            <a:r>
              <a:rPr lang="en-US" sz="1250" dirty="0">
                <a:solidFill>
                  <a:srgbClr val="3D44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prueba cada nivel contra lo que se definió a la izquierda. Las líneas discontinuas son la trazabilidad.</a:t>
            </a:r>
            <a:endParaRPr lang="en-US" sz="1250" dirty="0"/>
          </a:p>
        </p:txBody>
      </p:sp>
      <p:sp>
        <p:nvSpPr>
          <p:cNvPr id="28" name="Text 26"/>
          <p:cNvSpPr txBox="1"/>
          <p:nvPr/>
        </p:nvSpPr>
        <p:spPr>
          <a:xfrm>
            <a:off x="11277295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77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6F4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029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838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PROGRAMA DEL CURSO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86868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D11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Las 14 semanas recorren la V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508760"/>
            <a:ext cx="9601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D44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Siempre sobre el mismo sistema: el robot móvil autónomo del proyecto vertebrador.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331720"/>
            <a:ext cx="3401568" cy="3291840"/>
          </a:xfrm>
          <a:prstGeom prst="roundRect">
            <a:avLst>
              <a:gd name="adj" fmla="val 2222"/>
            </a:avLst>
          </a:prstGeom>
          <a:solidFill>
            <a:srgbClr val="FFFFFF"/>
          </a:solidFill>
          <a:ln w="12700">
            <a:solidFill>
              <a:srgbClr val="E3E0D8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60120" y="2651760"/>
            <a:ext cx="1371600" cy="502920"/>
          </a:xfrm>
          <a:prstGeom prst="roundRect">
            <a:avLst>
              <a:gd name="adj" fmla="val 50909"/>
            </a:avLst>
          </a:prstGeom>
          <a:solidFill>
            <a:srgbClr val="1A4F8A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960120" y="2651760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S1–S3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960120" y="3383280"/>
            <a:ext cx="276148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D11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Bajada</a:t>
            </a:r>
            <a:endParaRPr lang="en-US" sz="1900" dirty="0"/>
          </a:p>
        </p:txBody>
      </p:sp>
      <p:sp>
        <p:nvSpPr>
          <p:cNvPr id="9" name="Text 7"/>
          <p:cNvSpPr txBox="1"/>
          <p:nvPr/>
        </p:nvSpPr>
        <p:spPr>
          <a:xfrm>
            <a:off x="960120" y="4206240"/>
            <a:ext cx="276148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D44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Entender el encargo, nombrar la arquitectura, formalizarla.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389120" y="2331720"/>
            <a:ext cx="3401568" cy="3291840"/>
          </a:xfrm>
          <a:prstGeom prst="roundRect">
            <a:avLst>
              <a:gd name="adj" fmla="val 2222"/>
            </a:avLst>
          </a:prstGeom>
          <a:solidFill>
            <a:srgbClr val="FFFFFF"/>
          </a:solidFill>
          <a:ln w="12700">
            <a:solidFill>
              <a:srgbClr val="E3E0D8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709160" y="2651760"/>
            <a:ext cx="1371600" cy="502920"/>
          </a:xfrm>
          <a:prstGeom prst="roundRect">
            <a:avLst>
              <a:gd name="adj" fmla="val 50909"/>
            </a:avLst>
          </a:prstGeom>
          <a:solidFill>
            <a:srgbClr val="B8860B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4709160" y="2651760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S4–S8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4709160" y="3383280"/>
            <a:ext cx="276148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D11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Fondo y arranque de subida</a:t>
            </a:r>
            <a:endParaRPr lang="en-US" sz="1900" dirty="0"/>
          </a:p>
        </p:txBody>
      </p:sp>
      <p:sp>
        <p:nvSpPr>
          <p:cNvPr id="14" name="Text 12"/>
          <p:cNvSpPr txBox="1"/>
          <p:nvPr/>
        </p:nvSpPr>
        <p:spPr>
          <a:xfrm>
            <a:off x="4709160" y="4206240"/>
            <a:ext cx="276148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D44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Ingeniería inversa del modelo, calibración, primera verificación.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8138160" y="2331720"/>
            <a:ext cx="3401568" cy="3291840"/>
          </a:xfrm>
          <a:prstGeom prst="roundRect">
            <a:avLst>
              <a:gd name="adj" fmla="val 2222"/>
            </a:avLst>
          </a:prstGeom>
          <a:solidFill>
            <a:srgbClr val="FFFFFF"/>
          </a:solidFill>
          <a:ln w="12700">
            <a:solidFill>
              <a:srgbClr val="E3E0D8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8458200" y="2651760"/>
            <a:ext cx="1371600" cy="502920"/>
          </a:xfrm>
          <a:prstGeom prst="roundRect">
            <a:avLst>
              <a:gd name="adj" fmla="val 50909"/>
            </a:avLst>
          </a:prstGeom>
          <a:solidFill>
            <a:srgbClr val="C8382A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8458200" y="2651760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S9–S14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8458200" y="3383280"/>
            <a:ext cx="276148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D11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Subida</a:t>
            </a:r>
            <a:endParaRPr lang="en-US" sz="1900" dirty="0"/>
          </a:p>
        </p:txBody>
      </p:sp>
      <p:sp>
        <p:nvSpPr>
          <p:cNvPr id="19" name="Text 17"/>
          <p:cNvSpPr txBox="1"/>
          <p:nvPr/>
        </p:nvSpPr>
        <p:spPr>
          <a:xfrm>
            <a:off x="8458200" y="4206240"/>
            <a:ext cx="276148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D44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Fallos, integración, optimización y defensa (CDR).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11277295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77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6F4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029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838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HERRAMIENTAS DE PENSAMIENTO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868680"/>
            <a:ext cx="10789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D11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Vocabulario mínimo: 6 términos, no más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920240"/>
            <a:ext cx="3456432" cy="1536192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12700">
            <a:solidFill>
              <a:srgbClr val="E3E0D8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2176272"/>
            <a:ext cx="384048" cy="384048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417320" y="2103120"/>
            <a:ext cx="24505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Bloque</a:t>
            </a:r>
            <a:endParaRPr lang="en-US" sz="1500" dirty="0"/>
          </a:p>
        </p:txBody>
      </p:sp>
      <p:sp>
        <p:nvSpPr>
          <p:cNvPr id="7" name="Text 4"/>
          <p:cNvSpPr txBox="1"/>
          <p:nvPr/>
        </p:nvSpPr>
        <p:spPr>
          <a:xfrm>
            <a:off x="914400" y="2670048"/>
            <a:ext cx="2907792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D44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“caja” que representa un elemento del sistema.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4370832" y="1920240"/>
            <a:ext cx="3456432" cy="1536192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12700">
            <a:solidFill>
              <a:srgbClr val="E3E0D8"/>
            </a:solidFill>
            <a:prstDash val="solid"/>
          </a:ln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45152" y="2176272"/>
            <a:ext cx="384048" cy="384048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5148072" y="2103120"/>
            <a:ext cx="24505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Propiedad de valor</a:t>
            </a:r>
            <a:endParaRPr lang="en-US" sz="1500" dirty="0"/>
          </a:p>
        </p:txBody>
      </p:sp>
      <p:sp>
        <p:nvSpPr>
          <p:cNvPr id="11" name="Text 7"/>
          <p:cNvSpPr txBox="1"/>
          <p:nvPr/>
        </p:nvSpPr>
        <p:spPr>
          <a:xfrm>
            <a:off x="4645152" y="2670048"/>
            <a:ext cx="2907792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D44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dato numérico del bloque, con tipo y unidad.</a:t>
            </a:r>
            <a:endParaRPr lang="en-US" sz="1200" dirty="0"/>
          </a:p>
        </p:txBody>
      </p:sp>
      <p:sp>
        <p:nvSpPr>
          <p:cNvPr id="12" name="Shape 8"/>
          <p:cNvSpPr/>
          <p:nvPr/>
        </p:nvSpPr>
        <p:spPr>
          <a:xfrm>
            <a:off x="8101584" y="1920240"/>
            <a:ext cx="3456432" cy="1536192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12700">
            <a:solidFill>
              <a:srgbClr val="E3E0D8"/>
            </a:solidFill>
            <a:prstDash val="solid"/>
          </a:ln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75904" y="2176272"/>
            <a:ext cx="384048" cy="384048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8878824" y="2103120"/>
            <a:ext cx="24505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Puerto</a:t>
            </a:r>
            <a:endParaRPr lang="en-US" sz="1500" dirty="0"/>
          </a:p>
        </p:txBody>
      </p:sp>
      <p:sp>
        <p:nvSpPr>
          <p:cNvPr id="15" name="Text 10"/>
          <p:cNvSpPr txBox="1"/>
          <p:nvPr/>
        </p:nvSpPr>
        <p:spPr>
          <a:xfrm>
            <a:off x="8375904" y="2670048"/>
            <a:ext cx="2907792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D44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punto por el que un bloque se conecta con otro.</a:t>
            </a:r>
            <a:endParaRPr lang="en-US" sz="1200" dirty="0"/>
          </a:p>
        </p:txBody>
      </p:sp>
      <p:sp>
        <p:nvSpPr>
          <p:cNvPr id="16" name="Shape 11"/>
          <p:cNvSpPr/>
          <p:nvPr/>
        </p:nvSpPr>
        <p:spPr>
          <a:xfrm>
            <a:off x="640080" y="3685032"/>
            <a:ext cx="3456432" cy="1536192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12700">
            <a:solidFill>
              <a:srgbClr val="E3E0D8"/>
            </a:solidFill>
            <a:prstDash val="solid"/>
          </a:ln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4400" y="3941064"/>
            <a:ext cx="384048" cy="384048"/>
          </a:xfrm>
          <a:prstGeom prst="rect">
            <a:avLst/>
          </a:prstGeom>
        </p:spPr>
      </p:pic>
      <p:sp>
        <p:nvSpPr>
          <p:cNvPr id="18" name="Text 12"/>
          <p:cNvSpPr txBox="1"/>
          <p:nvPr/>
        </p:nvSpPr>
        <p:spPr>
          <a:xfrm>
            <a:off x="1417320" y="3867912"/>
            <a:ext cx="24505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Interfaz</a:t>
            </a:r>
            <a:endParaRPr lang="en-US" sz="1500" dirty="0"/>
          </a:p>
        </p:txBody>
      </p:sp>
      <p:sp>
        <p:nvSpPr>
          <p:cNvPr id="19" name="Text 13"/>
          <p:cNvSpPr txBox="1"/>
          <p:nvPr/>
        </p:nvSpPr>
        <p:spPr>
          <a:xfrm>
            <a:off x="914400" y="4434840"/>
            <a:ext cx="2907792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D44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Qué fluye por una conexión: energía, par, datos…</a:t>
            </a:r>
            <a:endParaRPr lang="en-US" sz="1200" dirty="0"/>
          </a:p>
        </p:txBody>
      </p:sp>
      <p:sp>
        <p:nvSpPr>
          <p:cNvPr id="20" name="Shape 14"/>
          <p:cNvSpPr/>
          <p:nvPr/>
        </p:nvSpPr>
        <p:spPr>
          <a:xfrm>
            <a:off x="4370832" y="3685032"/>
            <a:ext cx="3456432" cy="1536192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12700">
            <a:solidFill>
              <a:srgbClr val="E3E0D8"/>
            </a:solidFill>
            <a:prstDash val="solid"/>
          </a:ln>
        </p:spPr>
      </p:sp>
      <p:pic>
        <p:nvPicPr>
          <p:cNvPr id="2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45152" y="3941064"/>
            <a:ext cx="384048" cy="384048"/>
          </a:xfrm>
          <a:prstGeom prst="rect">
            <a:avLst/>
          </a:prstGeom>
        </p:spPr>
      </p:pic>
      <p:sp>
        <p:nvSpPr>
          <p:cNvPr id="22" name="Text 15"/>
          <p:cNvSpPr txBox="1"/>
          <p:nvPr/>
        </p:nvSpPr>
        <p:spPr>
          <a:xfrm>
            <a:off x="5148072" y="3867912"/>
            <a:ext cx="24505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BDD</a:t>
            </a:r>
            <a:endParaRPr lang="en-US" sz="1500" dirty="0"/>
          </a:p>
        </p:txBody>
      </p:sp>
      <p:sp>
        <p:nvSpPr>
          <p:cNvPr id="23" name="Text 16"/>
          <p:cNvSpPr txBox="1"/>
          <p:nvPr/>
        </p:nvSpPr>
        <p:spPr>
          <a:xfrm>
            <a:off x="4645152" y="4434840"/>
            <a:ext cx="2907792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D44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Qué bloques hay y cómo se componen (Semana 2).</a:t>
            </a:r>
            <a:endParaRPr lang="en-US" sz="1200" dirty="0"/>
          </a:p>
        </p:txBody>
      </p:sp>
      <p:sp>
        <p:nvSpPr>
          <p:cNvPr id="24" name="Shape 17"/>
          <p:cNvSpPr/>
          <p:nvPr/>
        </p:nvSpPr>
        <p:spPr>
          <a:xfrm>
            <a:off x="8101584" y="3685032"/>
            <a:ext cx="3456432" cy="1536192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12700">
            <a:solidFill>
              <a:srgbClr val="E3E0D8"/>
            </a:solidFill>
            <a:prstDash val="solid"/>
          </a:ln>
        </p:spPr>
      </p:sp>
      <p:pic>
        <p:nvPicPr>
          <p:cNvPr id="25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75904" y="3941064"/>
            <a:ext cx="384048" cy="384048"/>
          </a:xfrm>
          <a:prstGeom prst="rect">
            <a:avLst/>
          </a:prstGeom>
        </p:spPr>
      </p:pic>
      <p:sp>
        <p:nvSpPr>
          <p:cNvPr id="26" name="Text 18"/>
          <p:cNvSpPr txBox="1"/>
          <p:nvPr/>
        </p:nvSpPr>
        <p:spPr>
          <a:xfrm>
            <a:off x="8878824" y="3867912"/>
            <a:ext cx="24505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IBD</a:t>
            </a:r>
            <a:endParaRPr lang="en-US" sz="1500" dirty="0"/>
          </a:p>
        </p:txBody>
      </p:sp>
      <p:sp>
        <p:nvSpPr>
          <p:cNvPr id="27" name="Text 19"/>
          <p:cNvSpPr txBox="1"/>
          <p:nvPr/>
        </p:nvSpPr>
        <p:spPr>
          <a:xfrm>
            <a:off x="8375904" y="4434840"/>
            <a:ext cx="2907792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D44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Cómo se conectan por dentro (Semana 3).</a:t>
            </a:r>
            <a:endParaRPr lang="en-US" sz="1200" dirty="0"/>
          </a:p>
        </p:txBody>
      </p:sp>
      <p:sp>
        <p:nvSpPr>
          <p:cNvPr id="28" name="Text 20"/>
          <p:cNvSpPr txBox="1"/>
          <p:nvPr/>
        </p:nvSpPr>
        <p:spPr>
          <a:xfrm>
            <a:off x="640080" y="5449824"/>
            <a:ext cx="109087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4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BDD = qué hay</a:t>
            </a:r>
            <a:pPr algn="ctr" indent="0" marL="0">
              <a:buNone/>
            </a:pPr>
            <a:r>
              <a:rPr lang="en-US" sz="1400" dirty="0">
                <a:solidFill>
                  <a:srgbClr val="6E77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</a:t>
            </a:r>
            <a:pPr algn="ctr" indent="0" marL="0">
              <a:buNone/>
            </a:pPr>
            <a:r>
              <a:rPr lang="en-US" sz="1400" b="1" dirty="0">
                <a:solidFill>
                  <a:srgbClr val="1A4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IBD = cómo se conecta</a:t>
            </a:r>
            <a:endParaRPr lang="en-US" sz="1400" dirty="0"/>
          </a:p>
        </p:txBody>
      </p:sp>
      <p:sp>
        <p:nvSpPr>
          <p:cNvPr id="29" name="Text 21"/>
          <p:cNvSpPr txBox="1"/>
          <p:nvPr/>
        </p:nvSpPr>
        <p:spPr>
          <a:xfrm>
            <a:off x="11277295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77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14173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88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REGLA DE ORO DEL CURSO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874520"/>
            <a:ext cx="100584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3000" b="1" dirty="0">
                <a:solidFill>
                  <a:srgbClr val="F6F4E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Todo valor numérico del modelo lleva el ID del requisito que lo justifica.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4023360"/>
            <a:ext cx="6675120" cy="868680"/>
          </a:xfrm>
          <a:prstGeom prst="roundRect">
            <a:avLst>
              <a:gd name="adj" fmla="val 8421"/>
            </a:avLst>
          </a:prstGeom>
          <a:solidFill>
            <a:srgbClr val="121821"/>
          </a:solidFill>
          <a:ln w="12700">
            <a:solidFill>
              <a:srgbClr val="2A3646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60120" y="4023360"/>
            <a:ext cx="6035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7EC8E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velocidad_max = 75 km/h</a:t>
            </a:r>
            <a:pPr indent="0" marL="0">
              <a:buNone/>
            </a:pPr>
            <a:r>
              <a:rPr lang="en-US" sz="1600" dirty="0">
                <a:solidFill>
                  <a:srgbClr val="5A62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→   </a:t>
            </a:r>
            <a:pPr indent="0" marL="0">
              <a:buNone/>
            </a:pPr>
            <a:r>
              <a:rPr lang="en-US" sz="1600" b="1" dirty="0">
                <a:solidFill>
                  <a:srgbClr val="B886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RLT1-03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5166360"/>
            <a:ext cx="9692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9199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propiedad sin requisito que la respalde no entra en el modelo. Esto es lo que separa “usar una herramienta” de “hacer ingeniería de sistemas”.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11277295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6F4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029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838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CASO DE ESTUDIO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868680"/>
            <a:ext cx="10789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D11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 proyecto vertebrador: un robot móvil autónomo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508760"/>
            <a:ext cx="9692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3D44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Arquitectura completa según un pliego de contratación pública real (contrato de referencia, anonimizado).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640080" y="2240280"/>
            <a:ext cx="2514600" cy="1463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3E0D8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40080" y="2404872"/>
            <a:ext cx="2514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1A4F8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80+</a:t>
            </a:r>
            <a:endParaRPr lang="en-US" sz="38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3200400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6E77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REQUISITOS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374136" y="2240280"/>
            <a:ext cx="2514600" cy="1463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3E0D8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374136" y="2404872"/>
            <a:ext cx="2514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1A4F8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3800" dirty="0"/>
          </a:p>
        </p:txBody>
      </p:sp>
      <p:sp>
        <p:nvSpPr>
          <p:cNvPr id="10" name="Text 8"/>
          <p:cNvSpPr txBox="1"/>
          <p:nvPr/>
        </p:nvSpPr>
        <p:spPr>
          <a:xfrm>
            <a:off x="3374136" y="3200400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6E77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ROLES ROTATIVOS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108192" y="2240280"/>
            <a:ext cx="2514600" cy="1463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3E0D8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108192" y="2404872"/>
            <a:ext cx="2514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1A4F8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3800" dirty="0"/>
          </a:p>
        </p:txBody>
      </p:sp>
      <p:sp>
        <p:nvSpPr>
          <p:cNvPr id="13" name="Text 11"/>
          <p:cNvSpPr txBox="1"/>
          <p:nvPr/>
        </p:nvSpPr>
        <p:spPr>
          <a:xfrm>
            <a:off x="6108192" y="3200400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6E77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MESES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8842248" y="2240280"/>
            <a:ext cx="2514600" cy="1463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3E0D8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8842248" y="2404872"/>
            <a:ext cx="2514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1A4F8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3800" dirty="0"/>
          </a:p>
        </p:txBody>
      </p:sp>
      <p:sp>
        <p:nvSpPr>
          <p:cNvPr id="16" name="Text 14"/>
          <p:cNvSpPr txBox="1"/>
          <p:nvPr/>
        </p:nvSpPr>
        <p:spPr>
          <a:xfrm>
            <a:off x="8842248" y="3200400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6E77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EQUIPO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40080" y="4023360"/>
            <a:ext cx="10908792" cy="1554480"/>
          </a:xfrm>
          <a:prstGeom prst="roundRect">
            <a:avLst>
              <a:gd name="adj" fmla="val 4706"/>
            </a:avLst>
          </a:prstGeom>
          <a:solidFill>
            <a:srgbClr val="EDE9E0"/>
          </a:solidFill>
          <a:ln/>
        </p:spPr>
      </p:sp>
      <p:sp>
        <p:nvSpPr>
          <p:cNvPr id="18" name="Shape 16"/>
          <p:cNvSpPr/>
          <p:nvPr/>
        </p:nvSpPr>
        <p:spPr>
          <a:xfrm>
            <a:off x="1097280" y="4343400"/>
            <a:ext cx="914400" cy="914400"/>
          </a:xfrm>
          <a:prstGeom prst="ellipse">
            <a:avLst/>
          </a:prstGeom>
          <a:solidFill>
            <a:srgbClr val="0D1117"/>
          </a:solidFill>
          <a:ln/>
        </p:spPr>
      </p:sp>
      <p:pic>
        <p:nvPicPr>
          <p:cNvPr id="1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34440" y="4480560"/>
            <a:ext cx="640080" cy="640080"/>
          </a:xfrm>
          <a:prstGeom prst="rect">
            <a:avLst/>
          </a:prstGeom>
        </p:spPr>
      </p:pic>
      <p:sp>
        <p:nvSpPr>
          <p:cNvPr id="20" name="Text 17"/>
          <p:cNvSpPr txBox="1"/>
          <p:nvPr/>
        </p:nvSpPr>
        <p:spPr>
          <a:xfrm>
            <a:off x="2286000" y="4023360"/>
            <a:ext cx="89611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banco de pruebas: Dynamixel. </a:t>
            </a:r>
            <a:pPr indent="0" marL="0">
              <a:buNone/>
            </a:pPr>
            <a:r>
              <a:rPr lang="en-US" sz="1300" dirty="0">
                <a:solidFill>
                  <a:srgbClr val="3D44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evidencia física no replica el vehículo completo: se genera sobre un único lazo de validación — un actuador Dynamixel real cuya respuesta medida se contrasta contra su modelo de simulación. Un </a:t>
            </a:r>
            <a:pPr indent="0" marL="0">
              <a:buNone/>
            </a:pPr>
            <a:r>
              <a:rPr lang="en-US" sz="1300" i="1" dirty="0">
                <a:solidFill>
                  <a:srgbClr val="3D44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twin</a:t>
            </a:r>
            <a:pPr indent="0" marL="0">
              <a:buNone/>
            </a:pPr>
            <a:r>
              <a:rPr lang="en-US" sz="1300" dirty="0">
                <a:solidFill>
                  <a:srgbClr val="3D44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mínimo que ancla a la realidad toda la evidencia simulada.</a:t>
            </a:r>
            <a:endParaRPr lang="en-US" sz="1300" dirty="0"/>
          </a:p>
        </p:txBody>
      </p:sp>
      <p:sp>
        <p:nvSpPr>
          <p:cNvPr id="21" name="Text 18"/>
          <p:cNvSpPr txBox="1"/>
          <p:nvPr/>
        </p:nvSpPr>
        <p:spPr>
          <a:xfrm>
            <a:off x="11277295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77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6F4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029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838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CÓMO SE ORGANIZA EL EQUIPO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868680"/>
            <a:ext cx="10789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D11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Cuatro roles, definidos por su evidencia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508760"/>
            <a:ext cx="10058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3D44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por subsistema del vehículo, sino por el tipo de evidencia que producen. Rotan en el punto medio del ciclo en V.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640080" y="2286000"/>
            <a:ext cx="2587752" cy="3383280"/>
          </a:xfrm>
          <a:prstGeom prst="roundRect">
            <a:avLst>
              <a:gd name="adj" fmla="val 2827"/>
            </a:avLst>
          </a:prstGeom>
          <a:solidFill>
            <a:srgbClr val="FFFFFF"/>
          </a:solidFill>
          <a:ln w="12700">
            <a:solidFill>
              <a:srgbClr val="E3E0D8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499616" y="2628900"/>
            <a:ext cx="868680" cy="868680"/>
          </a:xfrm>
          <a:prstGeom prst="ellipse">
            <a:avLst/>
          </a:prstGeom>
          <a:solidFill>
            <a:srgbClr val="F1EEE6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29918" y="2759202"/>
            <a:ext cx="608076" cy="608076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640080" y="3657600"/>
            <a:ext cx="25877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50" kern="0" dirty="0">
                <a:solidFill>
                  <a:srgbClr val="B88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</a:t>
            </a:r>
            <a:endParaRPr lang="en-US" sz="1100" dirty="0"/>
          </a:p>
        </p:txBody>
      </p:sp>
      <p:sp>
        <p:nvSpPr>
          <p:cNvPr id="9" name="Text 6"/>
          <p:cNvSpPr txBox="1"/>
          <p:nvPr/>
        </p:nvSpPr>
        <p:spPr>
          <a:xfrm>
            <a:off x="777240" y="3977640"/>
            <a:ext cx="231343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11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Ingeniería de Sistemas</a:t>
            </a:r>
            <a:endParaRPr lang="en-US" sz="1600" dirty="0"/>
          </a:p>
        </p:txBody>
      </p:sp>
      <p:sp>
        <p:nvSpPr>
          <p:cNvPr id="10" name="Text 7"/>
          <p:cNvSpPr txBox="1"/>
          <p:nvPr/>
        </p:nvSpPr>
        <p:spPr>
          <a:xfrm>
            <a:off x="868680" y="4617720"/>
            <a:ext cx="213055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3D44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Requisitos, arquitectura, trazabilidad y coordinación con el Cliente.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3447288" y="2286000"/>
            <a:ext cx="2587752" cy="3383280"/>
          </a:xfrm>
          <a:prstGeom prst="roundRect">
            <a:avLst>
              <a:gd name="adj" fmla="val 2827"/>
            </a:avLst>
          </a:prstGeom>
          <a:solidFill>
            <a:srgbClr val="FFFFFF"/>
          </a:solidFill>
          <a:ln w="12700">
            <a:solidFill>
              <a:srgbClr val="E3E0D8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4306824" y="2628900"/>
            <a:ext cx="868680" cy="868680"/>
          </a:xfrm>
          <a:prstGeom prst="ellipse">
            <a:avLst/>
          </a:prstGeom>
          <a:solidFill>
            <a:srgbClr val="F1EEE6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37126" y="2759202"/>
            <a:ext cx="608076" cy="608076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3447288" y="3657600"/>
            <a:ext cx="25877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50" kern="0" dirty="0">
                <a:solidFill>
                  <a:srgbClr val="1A4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</a:t>
            </a:r>
            <a:endParaRPr lang="en-US" sz="1100" dirty="0"/>
          </a:p>
        </p:txBody>
      </p:sp>
      <p:sp>
        <p:nvSpPr>
          <p:cNvPr id="15" name="Text 11"/>
          <p:cNvSpPr txBox="1"/>
          <p:nvPr/>
        </p:nvSpPr>
        <p:spPr>
          <a:xfrm>
            <a:off x="3584448" y="3977640"/>
            <a:ext cx="231343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11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Simulación</a:t>
            </a:r>
            <a:endParaRPr lang="en-US" sz="1600" dirty="0"/>
          </a:p>
        </p:txBody>
      </p:sp>
      <p:sp>
        <p:nvSpPr>
          <p:cNvPr id="16" name="Text 12"/>
          <p:cNvSpPr txBox="1"/>
          <p:nvPr/>
        </p:nvSpPr>
        <p:spPr>
          <a:xfrm>
            <a:off x="3675888" y="4617720"/>
            <a:ext cx="213055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3D44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 físico por computador: propulsión y dinámica.</a:t>
            </a:r>
            <a:endParaRPr lang="en-US" sz="1150" dirty="0"/>
          </a:p>
        </p:txBody>
      </p:sp>
      <p:sp>
        <p:nvSpPr>
          <p:cNvPr id="17" name="Shape 13"/>
          <p:cNvSpPr/>
          <p:nvPr/>
        </p:nvSpPr>
        <p:spPr>
          <a:xfrm>
            <a:off x="6254496" y="2286000"/>
            <a:ext cx="2587752" cy="3383280"/>
          </a:xfrm>
          <a:prstGeom prst="roundRect">
            <a:avLst>
              <a:gd name="adj" fmla="val 2827"/>
            </a:avLst>
          </a:prstGeom>
          <a:solidFill>
            <a:srgbClr val="FFFFFF"/>
          </a:solidFill>
          <a:ln w="12700">
            <a:solidFill>
              <a:srgbClr val="E3E0D8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0000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7114032" y="2628900"/>
            <a:ext cx="868680" cy="868680"/>
          </a:xfrm>
          <a:prstGeom prst="ellipse">
            <a:avLst/>
          </a:prstGeom>
          <a:solidFill>
            <a:srgbClr val="F1EEE6"/>
          </a:solidFill>
          <a:ln/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44334" y="2759202"/>
            <a:ext cx="608076" cy="608076"/>
          </a:xfrm>
          <a:prstGeom prst="rect">
            <a:avLst/>
          </a:prstGeom>
        </p:spPr>
      </p:pic>
      <p:sp>
        <p:nvSpPr>
          <p:cNvPr id="20" name="Text 15"/>
          <p:cNvSpPr txBox="1"/>
          <p:nvPr/>
        </p:nvSpPr>
        <p:spPr>
          <a:xfrm>
            <a:off x="6254496" y="3657600"/>
            <a:ext cx="25877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50" kern="0" dirty="0">
                <a:solidFill>
                  <a:srgbClr val="2D6A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</a:t>
            </a:r>
            <a:endParaRPr lang="en-US" sz="1100" dirty="0"/>
          </a:p>
        </p:txBody>
      </p:sp>
      <p:sp>
        <p:nvSpPr>
          <p:cNvPr id="21" name="Text 16"/>
          <p:cNvSpPr txBox="1"/>
          <p:nvPr/>
        </p:nvSpPr>
        <p:spPr>
          <a:xfrm>
            <a:off x="6391656" y="3977640"/>
            <a:ext cx="231343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11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Taller</a:t>
            </a:r>
            <a:endParaRPr lang="en-US" sz="1600" dirty="0"/>
          </a:p>
        </p:txBody>
      </p:sp>
      <p:sp>
        <p:nvSpPr>
          <p:cNvPr id="22" name="Text 17"/>
          <p:cNvSpPr txBox="1"/>
          <p:nvPr/>
        </p:nvSpPr>
        <p:spPr>
          <a:xfrm>
            <a:off x="6483096" y="4617720"/>
            <a:ext cx="213055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3D44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Banco físico Dynamixel y medidas reales.</a:t>
            </a:r>
            <a:endParaRPr lang="en-US" sz="1150" dirty="0"/>
          </a:p>
        </p:txBody>
      </p:sp>
      <p:sp>
        <p:nvSpPr>
          <p:cNvPr id="23" name="Shape 18"/>
          <p:cNvSpPr/>
          <p:nvPr/>
        </p:nvSpPr>
        <p:spPr>
          <a:xfrm>
            <a:off x="9061704" y="2286000"/>
            <a:ext cx="2587752" cy="3383280"/>
          </a:xfrm>
          <a:prstGeom prst="roundRect">
            <a:avLst>
              <a:gd name="adj" fmla="val 2827"/>
            </a:avLst>
          </a:prstGeom>
          <a:solidFill>
            <a:srgbClr val="FFFFFF"/>
          </a:solidFill>
          <a:ln w="12700">
            <a:solidFill>
              <a:srgbClr val="E3E0D8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0000"/>
              </a:srgbClr>
            </a:outerShdw>
          </a:effectLst>
        </p:spPr>
      </p:sp>
      <p:sp>
        <p:nvSpPr>
          <p:cNvPr id="24" name="Shape 19"/>
          <p:cNvSpPr/>
          <p:nvPr/>
        </p:nvSpPr>
        <p:spPr>
          <a:xfrm>
            <a:off x="9921240" y="2628900"/>
            <a:ext cx="868680" cy="868680"/>
          </a:xfrm>
          <a:prstGeom prst="ellipse">
            <a:avLst/>
          </a:prstGeom>
          <a:solidFill>
            <a:srgbClr val="F1EEE6"/>
          </a:solidFill>
          <a:ln/>
        </p:spPr>
      </p:sp>
      <p:pic>
        <p:nvPicPr>
          <p:cNvPr id="2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51542" y="2759202"/>
            <a:ext cx="608076" cy="608076"/>
          </a:xfrm>
          <a:prstGeom prst="rect">
            <a:avLst/>
          </a:prstGeom>
        </p:spPr>
      </p:pic>
      <p:sp>
        <p:nvSpPr>
          <p:cNvPr id="26" name="Text 20"/>
          <p:cNvSpPr txBox="1"/>
          <p:nvPr/>
        </p:nvSpPr>
        <p:spPr>
          <a:xfrm>
            <a:off x="9061704" y="3657600"/>
            <a:ext cx="25877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50" kern="0" dirty="0">
                <a:solidFill>
                  <a:srgbClr val="6B3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</a:t>
            </a:r>
            <a:endParaRPr lang="en-US" sz="1100" dirty="0"/>
          </a:p>
        </p:txBody>
      </p:sp>
      <p:sp>
        <p:nvSpPr>
          <p:cNvPr id="27" name="Text 21"/>
          <p:cNvSpPr txBox="1"/>
          <p:nvPr/>
        </p:nvSpPr>
        <p:spPr>
          <a:xfrm>
            <a:off x="9198864" y="3977640"/>
            <a:ext cx="231343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11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Software</a:t>
            </a:r>
            <a:endParaRPr lang="en-US" sz="1600" dirty="0"/>
          </a:p>
        </p:txBody>
      </p:sp>
      <p:sp>
        <p:nvSpPr>
          <p:cNvPr id="28" name="Text 22"/>
          <p:cNvSpPr txBox="1"/>
          <p:nvPr/>
        </p:nvSpPr>
        <p:spPr>
          <a:xfrm>
            <a:off x="9290304" y="4617720"/>
            <a:ext cx="213055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3D44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Adquisición de datos e integración hardware ↔ modelo.</a:t>
            </a:r>
            <a:endParaRPr lang="en-US" sz="1150" dirty="0"/>
          </a:p>
        </p:txBody>
      </p:sp>
      <p:sp>
        <p:nvSpPr>
          <p:cNvPr id="29" name="Text 23"/>
          <p:cNvSpPr txBox="1"/>
          <p:nvPr/>
        </p:nvSpPr>
        <p:spPr>
          <a:xfrm>
            <a:off x="11277295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77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8686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838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ANTES DE LA SEMANA 2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18872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6F4E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Próximos pasos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2331720"/>
            <a:ext cx="685800" cy="685800"/>
          </a:xfrm>
          <a:prstGeom prst="ellipse">
            <a:avLst/>
          </a:prstGeom>
          <a:solidFill>
            <a:srgbClr val="121821"/>
          </a:solidFill>
          <a:ln w="19050">
            <a:solidFill>
              <a:srgbClr val="C8382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40080" y="233172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C838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200" dirty="0"/>
          </a:p>
        </p:txBody>
      </p:sp>
      <p:sp>
        <p:nvSpPr>
          <p:cNvPr id="6" name="Text 4"/>
          <p:cNvSpPr txBox="1"/>
          <p:nvPr/>
        </p:nvSpPr>
        <p:spPr>
          <a:xfrm>
            <a:off x="1600200" y="2313432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6F4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Leer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3657600" y="233172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B8BF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 introducción y el Anexo I anonimizado (~15 min en total).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40080" y="3566160"/>
            <a:ext cx="685800" cy="685800"/>
          </a:xfrm>
          <a:prstGeom prst="ellipse">
            <a:avLst/>
          </a:prstGeom>
          <a:solidFill>
            <a:srgbClr val="121821"/>
          </a:solidFill>
          <a:ln w="19050">
            <a:solidFill>
              <a:srgbClr val="C8382A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40080" y="356616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C838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200" dirty="0"/>
          </a:p>
        </p:txBody>
      </p:sp>
      <p:sp>
        <p:nvSpPr>
          <p:cNvPr id="10" name="Text 8"/>
          <p:cNvSpPr txBox="1"/>
          <p:nvPr/>
        </p:nvSpPr>
        <p:spPr>
          <a:xfrm>
            <a:off x="1600200" y="3547872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6F4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Rellenar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3657600" y="356616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B8BF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ficha de comprensión — Parte A (conceptos) y Parte B (el encargo).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40080" y="4800600"/>
            <a:ext cx="685800" cy="685800"/>
          </a:xfrm>
          <a:prstGeom prst="ellipse">
            <a:avLst/>
          </a:prstGeom>
          <a:solidFill>
            <a:srgbClr val="121821"/>
          </a:solidFill>
          <a:ln w="19050">
            <a:solidFill>
              <a:srgbClr val="C8382A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40080" y="480060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C838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200" dirty="0"/>
          </a:p>
        </p:txBody>
      </p:sp>
      <p:sp>
        <p:nvSpPr>
          <p:cNvPr id="14" name="Text 12"/>
          <p:cNvSpPr txBox="1"/>
          <p:nvPr/>
        </p:nvSpPr>
        <p:spPr>
          <a:xfrm>
            <a:off x="1600200" y="4782312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6F4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Traer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3657600" y="480060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B8BF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términos del glosario que no conocías y 1 pregunta para el Cliente.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640080" y="630936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Ingeniería Robótica con MBSE · Semana 1</a:t>
            </a:r>
            <a:endParaRPr lang="en-US" sz="1000" dirty="0"/>
          </a:p>
        </p:txBody>
      </p:sp>
      <p:sp>
        <p:nvSpPr>
          <p:cNvPr id="17" name="Text 15"/>
          <p:cNvSpPr txBox="1"/>
          <p:nvPr/>
        </p:nvSpPr>
        <p:spPr>
          <a:xfrm>
            <a:off x="11277295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Introducción a la Ingeniería de Sistemas</dc:title>
  <dc:subject>PptxGenJS Presentation</dc:subject>
  <dc:creator>Curso Robótica-MBSE</dc:creator>
  <cp:lastModifiedBy>Curso Robótica-MBSE</cp:lastModifiedBy>
  <cp:revision>1</cp:revision>
  <dcterms:created xsi:type="dcterms:W3CDTF">2026-09-14T09:44:29Z</dcterms:created>
  <dcterms:modified xsi:type="dcterms:W3CDTF">2026-09-14T09:44:29Z</dcterms:modified>
</cp:coreProperties>
</file>