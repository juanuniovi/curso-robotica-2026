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2 Y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Sistema: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BDD e IBD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arquitectura con texto plano, en vez de una herramienta gráfica.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6400800" cy="1051560"/>
          </a:xfrm>
          <a:prstGeom prst="roundRect">
            <a:avLst>
              <a:gd name="adj" fmla="val 5217"/>
            </a:avLst>
          </a:prstGeom>
          <a:ln w="12700">
            <a:solidFill>
              <a:srgbClr val="2A36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389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ESTAS TRANSPARENCIAS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69087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1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generado con asistencia de IA (Claude) a partir de instrucciones del profesor, quien ha revisado y editado el resultado final.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5852160"/>
            <a:ext cx="6035040" cy="18288"/>
          </a:xfrm>
          <a:prstGeom prst="rect">
            <a:avLst/>
          </a:prstGeom>
          <a:solidFill>
            <a:srgbClr val="2A36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59893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Robótica con MBSE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2910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4º Grado Ingeniería Electrónica y Automática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(SEMANA 1)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vocabulario no cambia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Cambiamos de herramienta, no de conceptos. BDD e IBD significan lo mismo que ya visteis.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86584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89888" y="231343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862072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elemento del sistema (una “caja”).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0832" y="214884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38658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20640" y="231343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4645152" y="2862072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dato del bloque: tipo + valor + unidad.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01584" y="214884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2386584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851392" y="231343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/ Interfaz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8375904" y="2862072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dónde y qué fluye entre bloques.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379476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32504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89888" y="395935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de trazabilidad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914400" y="4507992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un valor con el requisito que lo justifica.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370832" y="379476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4032504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120640" y="395935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</a:t>
            </a:r>
            <a:endParaRPr lang="en-US" sz="1450" dirty="0"/>
          </a:p>
        </p:txBody>
      </p:sp>
      <p:sp>
        <p:nvSpPr>
          <p:cNvPr id="24" name="Text 17"/>
          <p:cNvSpPr txBox="1"/>
          <p:nvPr/>
        </p:nvSpPr>
        <p:spPr>
          <a:xfrm>
            <a:off x="4645152" y="4507992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bloques hay y cómo se componen.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101584" y="379476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904" y="4032504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851392" y="395935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IBD</a:t>
            </a:r>
            <a:endParaRPr lang="en-US" sz="1450" dirty="0"/>
          </a:p>
        </p:txBody>
      </p:sp>
      <p:sp>
        <p:nvSpPr>
          <p:cNvPr id="28" name="Text 20"/>
          <p:cNvSpPr txBox="1"/>
          <p:nvPr/>
        </p:nvSpPr>
        <p:spPr>
          <a:xfrm>
            <a:off x="8375904" y="4507992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conectan por dentro.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640080" y="54864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= qué hay</a:t>
            </a:r>
            <a:pPr algn="ctr" indent="0" marL="0">
              <a:buNone/>
            </a:pPr>
            <a:r>
              <a:rPr lang="en-US" sz="14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400" b="1" dirty="0">
                <a:solidFill>
                  <a:srgbClr val="1A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IBD = cómo se conecta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no System Composer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System Composer hace este trabajo, pero para este curso no es la mejor opción.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8660" y="2423160"/>
            <a:ext cx="594360" cy="59436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814" y="2512314"/>
            <a:ext cx="416052" cy="4160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286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plano, git-nativo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22860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YAML se revisa, comenta y fusiona en un Pull Request como cualquier otro archivo. Un .slx binario, no.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08660" y="3474720"/>
            <a:ext cx="594360" cy="59436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14" y="3563874"/>
            <a:ext cx="416052" cy="4160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33375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abierto y programático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33375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licencia ni instalación pesada. Conecta directo con Python — y con simuladores como MuJoCo.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08660" y="4526280"/>
            <a:ext cx="594360" cy="59436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14" y="4615434"/>
            <a:ext cx="416052" cy="41605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4389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automática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43891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comprueba trazabilidad al regenerar: algo que una herramienta gráfica no da gratis.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CENTRAL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YAML es la fuente de verdad.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diagrama es solo una vista.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1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edita el diagrama a mano. Si algo está mal, se corrige el YAML y se regenera. Exactamente como el sitio del curso se regenera desde gen_semanas.py.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MECANISMO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YAML a diagrama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846320" cy="4114800"/>
          </a:xfrm>
          <a:prstGeom prst="roundRect">
            <a:avLst>
              <a:gd name="adj" fmla="val 1778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sistema.yaml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429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bloques: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Bateria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padre: Robot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propiedades: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nombre: voltaje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valor: 12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unidad: V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requisito: REQ-AUT-02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Controlador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padre: Robot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80760" y="3611880"/>
            <a:ext cx="822960" cy="822960"/>
          </a:xfrm>
          <a:prstGeom prst="ellipse">
            <a:avLst/>
          </a:prstGeom>
          <a:solidFill>
            <a:srgbClr val="EDE9E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4204" y="3735324"/>
            <a:ext cx="576072" cy="57607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89320" y="4526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render_arquitectura.py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89520" y="1965960"/>
            <a:ext cx="3962095" cy="4114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18120" y="2148840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ARQUITECTURA.md (generado)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909560" y="2651760"/>
            <a:ext cx="2590495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1A4F8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09560" y="2651760"/>
            <a:ext cx="2590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Bateria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204808" y="3154680"/>
            <a:ext cx="9144" cy="548640"/>
          </a:xfrm>
          <a:prstGeom prst="line">
            <a:avLst/>
          </a:prstGeom>
          <a:noFill/>
          <a:ln w="25400">
            <a:solidFill>
              <a:srgbClr val="1A4F8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09560" y="3703320"/>
            <a:ext cx="2590495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1A4F8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09560" y="3703320"/>
            <a:ext cx="2590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909560" y="4389120"/>
            <a:ext cx="2590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voltaje = 12 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7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[REQ-AUT-02]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5166360"/>
            <a:ext cx="2590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tabla de propiedades,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validada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COMPLETO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BDD — robot de 4 ruedas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07128" y="210312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0D1117"/>
          </a:solidFill>
          <a:ln w="19050">
            <a:solidFill>
              <a:srgbClr val="0D11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07128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Robot4Ruedas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58188" y="32461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4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58188" y="32461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V="1">
            <a:off x="2872588" y="2651760"/>
            <a:ext cx="3223260" cy="594360"/>
          </a:xfrm>
          <a:prstGeom prst="line">
            <a:avLst/>
          </a:prstGeom>
          <a:noFill/>
          <a:ln w="19050">
            <a:solidFill>
              <a:srgbClr val="1A4F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07028" y="32461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4F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07028" y="32461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flipV="1">
            <a:off x="5021428" y="2651760"/>
            <a:ext cx="1074420" cy="594360"/>
          </a:xfrm>
          <a:prstGeom prst="line">
            <a:avLst/>
          </a:prstGeom>
          <a:noFill/>
          <a:ln w="19050">
            <a:solidFill>
              <a:srgbClr val="1A4F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5868" y="32461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4F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55868" y="32461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5848" y="2651760"/>
            <a:ext cx="1074420" cy="594360"/>
          </a:xfrm>
          <a:prstGeom prst="line">
            <a:avLst/>
          </a:prstGeom>
          <a:noFill/>
          <a:ln w="19050">
            <a:solidFill>
              <a:srgbClr val="1A4F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04708" y="32461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4F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04708" y="32461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(×4 ruedas)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5848" y="2651760"/>
            <a:ext cx="3223260" cy="594360"/>
          </a:xfrm>
          <a:prstGeom prst="line">
            <a:avLst/>
          </a:prstGeom>
          <a:noFill/>
          <a:ln w="19050">
            <a:solidFill>
              <a:srgbClr val="1A4F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2976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Propulsion contiene 4× RuedaMotor (FL, FR, RL, RR) — mismo patrón repetido, omitido aquí por espacio.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908792" cy="1371600"/>
          </a:xfrm>
          <a:prstGeom prst="roundRect">
            <a:avLst>
              <a:gd name="adj" fmla="val 5333"/>
            </a:avLst>
          </a:prstGeom>
          <a:solidFill>
            <a:srgbClr val="0D111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512064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TD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Robot4Ruedas --&gt; Chasis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Robot4Ruedas --&gt; Bateria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Robot4Ruedas --&gt; Controlador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Robot4Ruedas --&gt; Propulsion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COMPLETO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IBD — robot de 4 ruedas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0" y="219456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1A4F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985455" y="219456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1A4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85455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24248" y="420624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24248" y="4206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RuedaMotor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(×4)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2514600"/>
            <a:ext cx="3779215" cy="9144"/>
          </a:xfrm>
          <a:prstGeom prst="line">
            <a:avLst/>
          </a:prstGeom>
          <a:noFill/>
          <a:ln w="25400">
            <a:solidFill>
              <a:srgbClr val="1A4F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0" y="2148840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PotenciaElectrica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17520" y="2834640"/>
            <a:ext cx="2529688" cy="1371600"/>
          </a:xfrm>
          <a:prstGeom prst="line">
            <a:avLst/>
          </a:prstGeom>
          <a:noFill/>
          <a:ln w="25400">
            <a:solidFill>
              <a:srgbClr val="1A4F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6644488" y="2834640"/>
            <a:ext cx="2529688" cy="137160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7160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4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PotenciaElectrica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894015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CmdPWM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EDE9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34924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conexiones: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4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{origen: Bateria, destino: Controlador, interfaz: PotenciaElectrica}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4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{origen: Controlador, destino: RuedaMotor_FL, interfaz: CmdPWM}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AÑADIDA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script valida trazabilidad, no solo dibuja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regeneráis, comprueba que ningún bloque, propiedad o interfaz se quede sin requisito — la regla de oro del curso, aplicada automáticamente.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10241280" cy="1920240"/>
          </a:xfrm>
          <a:prstGeom prst="roundRect">
            <a:avLst>
              <a:gd name="adj" fmla="val 3810"/>
            </a:avLst>
          </a:prstGeom>
          <a:solidFill>
            <a:srgbClr val="121821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06324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render_arquitectura.py modelos/sysml/sistema.yaml
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0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1 problema(s) de trazabilidad:
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919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Chasis.masa: sin requisito que la justifique
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8FD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ARQUITECTURA.md generado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0292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1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lo que System Composer no os daba gratis: una comprobación programática, repetible, que corre en cada commit.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TRABAJA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flujo, en 4 pasos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3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31620" y="3154680"/>
            <a:ext cx="731520" cy="731520"/>
          </a:xfrm>
          <a:prstGeom prst="ellipse">
            <a:avLst/>
          </a:prstGeom>
          <a:solidFill>
            <a:srgbClr val="EDE9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348" y="3264408"/>
            <a:ext cx="512064" cy="5120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4023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434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base/modelos/sistema.yaml → modelos/sysml/ (una sola vez).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74136" y="22860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74136" y="25146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3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265676" y="3154680"/>
            <a:ext cx="731520" cy="731520"/>
          </a:xfrm>
          <a:prstGeom prst="ellipse">
            <a:avLst/>
          </a:prstGeom>
          <a:solidFill>
            <a:srgbClr val="EDE9E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404" y="326440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74136" y="4023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3557016" y="4434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rol añade sus bloques, propiedades o interfaces en el YAML.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08192" y="22860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108192" y="25146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3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999732" y="3154680"/>
            <a:ext cx="731520" cy="731520"/>
          </a:xfrm>
          <a:prstGeom prst="ellipse">
            <a:avLst/>
          </a:prstGeom>
          <a:solidFill>
            <a:srgbClr val="EDE9E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3264408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108192" y="4023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Regenerar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6291072" y="4434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render_arquitectura.py — revisar que no hay avisos de trazabilidad.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842248" y="22860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842248" y="25146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3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9733788" y="3154680"/>
            <a:ext cx="731520" cy="731520"/>
          </a:xfrm>
          <a:prstGeom prst="ellipse">
            <a:avLst/>
          </a:prstGeom>
          <a:solidFill>
            <a:srgbClr val="EDE9E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3516" y="3264408"/>
            <a:ext cx="512064" cy="51206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842248" y="4023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Commitear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9025128" y="4434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sistema.yaml + ARQUITECTURA.md, igual que cualquier otro archivo del curso.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entrega cada semana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468880"/>
            <a:ext cx="1188720" cy="502920"/>
          </a:xfrm>
          <a:prstGeom prst="roundRect">
            <a:avLst>
              <a:gd name="adj" fmla="val 50909"/>
            </a:avLst>
          </a:prstGeom>
          <a:solidFill>
            <a:srgbClr val="1A4F8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468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5468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BDD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05840" y="4005072"/>
            <a:ext cx="82296" cy="82296"/>
          </a:xfrm>
          <a:prstGeom prst="ellipse">
            <a:avLst/>
          </a:prstGeom>
          <a:solidFill>
            <a:srgbClr val="1A4F8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38862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de nivel 1 y 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4581144"/>
            <a:ext cx="82296" cy="82296"/>
          </a:xfrm>
          <a:prstGeom prst="ellipse">
            <a:avLst/>
          </a:prstGeom>
          <a:solidFill>
            <a:srgbClr val="1A4F8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446227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tipadas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su requisito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05840" y="5157216"/>
            <a:ext cx="82296" cy="82296"/>
          </a:xfrm>
          <a:prstGeom prst="ellipse">
            <a:avLst/>
          </a:prstGeom>
          <a:solidFill>
            <a:srgbClr val="1A4F8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34440" y="503834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ARQUITECTURA.md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BDD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73952" y="210312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39712" y="2468880"/>
            <a:ext cx="1188720" cy="502920"/>
          </a:xfrm>
          <a:prstGeom prst="roundRect">
            <a:avLst>
              <a:gd name="adj" fmla="val 50909"/>
            </a:avLst>
          </a:prstGeom>
          <a:solidFill>
            <a:srgbClr val="2D6A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39712" y="2468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39712" y="315468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IBD + baseline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839712" y="4005072"/>
            <a:ext cx="82296" cy="82296"/>
          </a:xfrm>
          <a:prstGeom prst="ellipse">
            <a:avLst/>
          </a:prstGeom>
          <a:solidFill>
            <a:srgbClr val="2D6A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68312" y="38862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caracterizadas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39712" y="4581144"/>
            <a:ext cx="82296" cy="82296"/>
          </a:xfrm>
          <a:prstGeom prst="ellipse">
            <a:avLst/>
          </a:prstGeom>
          <a:solidFill>
            <a:srgbClr val="2D6A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68312" y="446227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Conexiones del IBD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39712" y="5157216"/>
            <a:ext cx="82296" cy="82296"/>
          </a:xfrm>
          <a:prstGeom prst="ellipse">
            <a:avLst/>
          </a:prstGeom>
          <a:solidFill>
            <a:srgbClr val="2D6A3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68312" y="503834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de git baseline-v1.0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vive todo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241280" cy="3566160"/>
          </a:xfrm>
          <a:prstGeom prst="roundRect">
            <a:avLst>
              <a:gd name="adj" fmla="val 2051"/>
            </a:avLst>
          </a:prstGeom>
          <a:solidFill>
            <a:srgbClr val="121821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modelos/sysml/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8620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sistema.yaml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286207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— la fuente de verdad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33924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ARQUITECTURA.md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339242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 — BDD, IBD, tablas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9227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INFORME.md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92277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observaciones, checklist, por semana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4531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base/modelos/sistema.yaml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445312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esqueleto inicial, no tocar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983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render_arquitectura.py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49834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que genera la vista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SEMANA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empezar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685800" cy="685800"/>
          </a:xfrm>
          <a:prstGeom prst="ellipse">
            <a:avLst/>
          </a:prstGeom>
          <a:solidFill>
            <a:srgbClr val="121821"/>
          </a:solidFill>
          <a:ln w="19050">
            <a:solidFill>
              <a:srgbClr val="C838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3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3591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Python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069080" y="23774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python3 --version (3.8+) y pip install pyyaml si hace falta.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685800" cy="685800"/>
          </a:xfrm>
          <a:prstGeom prst="ellipse">
            <a:avLst/>
          </a:prstGeom>
          <a:solidFill>
            <a:srgbClr val="121821"/>
          </a:solidFill>
          <a:ln w="19050">
            <a:solidFill>
              <a:srgbClr val="C838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611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3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593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el modelo base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36118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base/modelos/sistema.yaml → modelos/sysml/sistema.yaml.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685800" cy="685800"/>
          </a:xfrm>
          <a:prstGeom prst="ellipse">
            <a:avLst/>
          </a:prstGeom>
          <a:solidFill>
            <a:srgbClr val="121821"/>
          </a:solidFill>
          <a:ln w="19050">
            <a:solidFill>
              <a:srgbClr val="C838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846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3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8280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render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48463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render_arquitectura.py modelos/sysml/sistema.yaml -o modelos/sysml/ARQUITECTURA.md — y abrirlo en GitHub.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Robótica con MBSE · Semanas 2–3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del Sistema: BDD e IBD</dc:title>
  <dc:subject>PptxGenJS Presentation</dc:subject>
  <dc:creator>Curso Robótica-MBSE</dc:creator>
  <cp:lastModifiedBy>Curso Robótica-MBSE</cp:lastModifiedBy>
  <cp:revision>1</cp:revision>
  <dcterms:created xsi:type="dcterms:W3CDTF">2026-09-14T20:13:07Z</dcterms:created>
  <dcterms:modified xsi:type="dcterms:W3CDTF">2026-09-14T20:13:07Z</dcterms:modified>
</cp:coreProperties>
</file>